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2" r:id="rId6"/>
    <p:sldId id="261"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7433E2-646B-4CD1-A18E-D9EFA4BEB812}" v="18" dt="2026-07-17T08:43:45.4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61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706DA-142F-FC3D-E90E-85059D7168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438403-0038-0FB3-8DD9-9B855AD1D2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43A61C5-AEE6-D98C-41AE-A26567600F66}"/>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5" name="Footer Placeholder 4">
            <a:extLst>
              <a:ext uri="{FF2B5EF4-FFF2-40B4-BE49-F238E27FC236}">
                <a16:creationId xmlns:a16="http://schemas.microsoft.com/office/drawing/2014/main" id="{C1ED2855-FA0A-8B20-F07A-614D228809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0AC731-E599-29C9-C514-15309DDFFC52}"/>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630874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DB557-96A5-07EA-1311-A4D4740001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7BE6A4-EC12-7CFB-3298-A2D7155389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C9EAF6-2DA6-8CF4-5224-0D35E056B3FE}"/>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5" name="Footer Placeholder 4">
            <a:extLst>
              <a:ext uri="{FF2B5EF4-FFF2-40B4-BE49-F238E27FC236}">
                <a16:creationId xmlns:a16="http://schemas.microsoft.com/office/drawing/2014/main" id="{CB142D8E-4655-431B-7327-F87F909DBA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CEAF1C-1FE0-9ED8-47A0-CBDBFB918ACB}"/>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3311748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C0022-A56C-B0C7-E036-588B0ABF34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9B2A729-BCE4-3450-2FE3-CC961BFBE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E3C1B2-4749-F8E6-2BE5-F89B8B6713AA}"/>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5" name="Footer Placeholder 4">
            <a:extLst>
              <a:ext uri="{FF2B5EF4-FFF2-40B4-BE49-F238E27FC236}">
                <a16:creationId xmlns:a16="http://schemas.microsoft.com/office/drawing/2014/main" id="{4CECAB5E-BD0C-41FA-472A-45442EFDA6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2A458A-8F74-2131-F3FC-AD4B29A636BE}"/>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3827544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BC29E-C1B2-A4FA-7AF7-E4A22C216F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6A8070-6BEA-A0AC-AFD9-A1D170B388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1875135-30AF-42CB-0D4B-D6BCDA07F5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7BD9FBE-C19B-8221-4492-2840AACACD97}"/>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6" name="Footer Placeholder 5">
            <a:extLst>
              <a:ext uri="{FF2B5EF4-FFF2-40B4-BE49-F238E27FC236}">
                <a16:creationId xmlns:a16="http://schemas.microsoft.com/office/drawing/2014/main" id="{580B5895-891B-E7ED-77AF-0FBCCFC8B4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A1B4F4-C86F-F410-11A8-95593A3877AD}"/>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2203013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C0E93-C3B5-6D4A-51FD-772DBC9FE2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69CDE5-3958-3BE5-ACBF-EFFF970202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C22421-6035-0B2A-E813-21E8E6F39B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A550F2-14FE-E62F-64DD-F79E0EFAA7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463DF-CD8A-00B6-5BF0-07361817AC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65A31AB-1116-D68C-E419-3D1B8711B7C7}"/>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8" name="Footer Placeholder 7">
            <a:extLst>
              <a:ext uri="{FF2B5EF4-FFF2-40B4-BE49-F238E27FC236}">
                <a16:creationId xmlns:a16="http://schemas.microsoft.com/office/drawing/2014/main" id="{906DC91E-3CC2-A2CC-172C-79E6F523FE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707EC3A-1B06-2473-8644-FD1FAD086448}"/>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2086553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7CF80-E1D6-6BC2-45B5-39A62165B45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9F3BE8-7323-0156-816B-3D95E54CBB1B}"/>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4" name="Footer Placeholder 3">
            <a:extLst>
              <a:ext uri="{FF2B5EF4-FFF2-40B4-BE49-F238E27FC236}">
                <a16:creationId xmlns:a16="http://schemas.microsoft.com/office/drawing/2014/main" id="{84A2AEF0-D905-EF38-DC49-E37EFD2C1D9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45AFEC3-595F-B438-4D9F-DDF887484FE3}"/>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1094205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9CF366-C8EB-8CBA-1BAE-4BADCD102EC9}"/>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3" name="Footer Placeholder 2">
            <a:extLst>
              <a:ext uri="{FF2B5EF4-FFF2-40B4-BE49-F238E27FC236}">
                <a16:creationId xmlns:a16="http://schemas.microsoft.com/office/drawing/2014/main" id="{06A28DD1-D080-055A-BB2F-4A888A4623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780FF7-8A5D-60E2-A043-7D71F142D066}"/>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1202025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75C83-A0ED-FDCF-36B2-8F8CC0F021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0190F7-4D6D-9922-D3D6-BB6FA61484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4C9E72-0971-9771-E1D0-2D49402AE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0EFE6-8D86-F326-2696-37240175FE20}"/>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6" name="Footer Placeholder 5">
            <a:extLst>
              <a:ext uri="{FF2B5EF4-FFF2-40B4-BE49-F238E27FC236}">
                <a16:creationId xmlns:a16="http://schemas.microsoft.com/office/drawing/2014/main" id="{B9C4F875-DFC7-52F1-966A-0F402AE469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4FD1B4-1BF4-659D-F745-534E75747789}"/>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3939884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0B224-A8BB-FC8F-1CE4-47F0FC8075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7D08026-C5CF-BFAE-E3BC-4E2ACFC077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D77C92A-626C-C540-E51B-D6E98A2AA7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9B64AF-3FF9-DB85-BA0A-CFD6FA1AE5BD}"/>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6" name="Footer Placeholder 5">
            <a:extLst>
              <a:ext uri="{FF2B5EF4-FFF2-40B4-BE49-F238E27FC236}">
                <a16:creationId xmlns:a16="http://schemas.microsoft.com/office/drawing/2014/main" id="{F2D01482-DA9E-6F95-7014-D44BAEEA95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B1CED3-46F3-47D1-055C-28C8D879BCCD}"/>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1198678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E99D7-251D-59CA-3E58-11C7881401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716509-C5B8-64B7-952F-D55EDD1EC4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93DE09-7F41-0708-4AA2-1A6629D691A5}"/>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5" name="Footer Placeholder 4">
            <a:extLst>
              <a:ext uri="{FF2B5EF4-FFF2-40B4-BE49-F238E27FC236}">
                <a16:creationId xmlns:a16="http://schemas.microsoft.com/office/drawing/2014/main" id="{0D4ED901-1A53-E722-D3A3-3042987855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83CFCE-086D-25AE-B527-FF98CBA67D36}"/>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3293647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E10E8D-8F33-4C6C-F6BA-8BDD60CB79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64DB27-A86D-987B-BE25-8CE0618091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F1F8F9-9B4D-1E69-2079-B891EBC2428A}"/>
              </a:ext>
            </a:extLst>
          </p:cNvPr>
          <p:cNvSpPr>
            <a:spLocks noGrp="1"/>
          </p:cNvSpPr>
          <p:nvPr>
            <p:ph type="dt" sz="half" idx="10"/>
          </p:nvPr>
        </p:nvSpPr>
        <p:spPr/>
        <p:txBody>
          <a:bodyPr/>
          <a:lstStyle/>
          <a:p>
            <a:fld id="{80020EC6-D4D2-4479-9058-B2876E9EB9C9}" type="datetimeFigureOut">
              <a:rPr lang="en-IN" smtClean="0"/>
              <a:t>19-07-2026</a:t>
            </a:fld>
            <a:endParaRPr lang="en-IN"/>
          </a:p>
        </p:txBody>
      </p:sp>
      <p:sp>
        <p:nvSpPr>
          <p:cNvPr id="5" name="Footer Placeholder 4">
            <a:extLst>
              <a:ext uri="{FF2B5EF4-FFF2-40B4-BE49-F238E27FC236}">
                <a16:creationId xmlns:a16="http://schemas.microsoft.com/office/drawing/2014/main" id="{65225356-8ED0-9AC9-291F-6F7F0EDFE3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448CF0-8340-AF89-E8A9-212B50E17A79}"/>
              </a:ext>
            </a:extLst>
          </p:cNvPr>
          <p:cNvSpPr>
            <a:spLocks noGrp="1"/>
          </p:cNvSpPr>
          <p:nvPr>
            <p:ph type="sldNum" sz="quarter" idx="12"/>
          </p:nvPr>
        </p:nvSpPr>
        <p:spPr/>
        <p:txBody>
          <a:bodyPr/>
          <a:lstStyle/>
          <a:p>
            <a:fld id="{9F5F78BB-4EA2-4DC3-A475-5BB331D6E699}" type="slidenum">
              <a:rPr lang="en-IN" smtClean="0"/>
              <a:t>‹#›</a:t>
            </a:fld>
            <a:endParaRPr lang="en-IN"/>
          </a:p>
        </p:txBody>
      </p:sp>
    </p:spTree>
    <p:extLst>
      <p:ext uri="{BB962C8B-B14F-4D97-AF65-F5344CB8AC3E}">
        <p14:creationId xmlns:p14="http://schemas.microsoft.com/office/powerpoint/2010/main" val="3735436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4AC3AA-3D91-A85D-CFC4-EFE7C86117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AB1134-29FA-F747-8B29-D77FF1F090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72E5B8-D12A-234E-B418-FBBCD2ADE9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020EC6-D4D2-4479-9058-B2876E9EB9C9}" type="datetimeFigureOut">
              <a:rPr lang="en-IN" smtClean="0"/>
              <a:t>19-07-2026</a:t>
            </a:fld>
            <a:endParaRPr lang="en-IN"/>
          </a:p>
        </p:txBody>
      </p:sp>
      <p:sp>
        <p:nvSpPr>
          <p:cNvPr id="5" name="Footer Placeholder 4">
            <a:extLst>
              <a:ext uri="{FF2B5EF4-FFF2-40B4-BE49-F238E27FC236}">
                <a16:creationId xmlns:a16="http://schemas.microsoft.com/office/drawing/2014/main" id="{42A1E978-4027-3227-9B07-B3AFCFA50B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54AA6A1-C88A-C887-F4C2-82BCDF61BA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5F78BB-4EA2-4DC3-A475-5BB331D6E699}" type="slidenum">
              <a:rPr lang="en-IN" smtClean="0"/>
              <a:t>‹#›</a:t>
            </a:fld>
            <a:endParaRPr lang="en-IN"/>
          </a:p>
        </p:txBody>
      </p:sp>
    </p:spTree>
    <p:extLst>
      <p:ext uri="{BB962C8B-B14F-4D97-AF65-F5344CB8AC3E}">
        <p14:creationId xmlns:p14="http://schemas.microsoft.com/office/powerpoint/2010/main" val="1623975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AD3A-45FA-633B-551C-59DAE2DC6745}"/>
              </a:ext>
            </a:extLst>
          </p:cNvPr>
          <p:cNvSpPr>
            <a:spLocks noGrp="1"/>
          </p:cNvSpPr>
          <p:nvPr>
            <p:ph type="ctrTitle"/>
          </p:nvPr>
        </p:nvSpPr>
        <p:spPr>
          <a:xfrm>
            <a:off x="131975" y="1865376"/>
            <a:ext cx="12141724" cy="1490567"/>
          </a:xfrm>
        </p:spPr>
        <p:txBody>
          <a:bodyPr>
            <a:normAutofit/>
          </a:bodyPr>
          <a:lstStyle/>
          <a:p>
            <a:r>
              <a:rPr lang="en-IN" sz="2800" b="1" dirty="0">
                <a:latin typeface="Times New Roman" panose="02020603050405020304" pitchFamily="18" charset="0"/>
                <a:cs typeface="Times New Roman" panose="02020603050405020304" pitchFamily="18" charset="0"/>
              </a:rPr>
              <a:t>CSA-0615 Design and analysis of algorithms</a:t>
            </a:r>
            <a:br>
              <a:rPr lang="en-IN" sz="2800" b="1" dirty="0">
                <a:latin typeface="Times New Roman" panose="02020603050405020304" pitchFamily="18" charset="0"/>
                <a:cs typeface="Times New Roman" panose="02020603050405020304" pitchFamily="18" charset="0"/>
              </a:rPr>
            </a:b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05E4E3C-BA48-5E3D-5E2D-91EA70C42087}"/>
              </a:ext>
            </a:extLst>
          </p:cNvPr>
          <p:cNvSpPr>
            <a:spLocks noGrp="1"/>
          </p:cNvSpPr>
          <p:nvPr>
            <p:ph type="subTitle" idx="1"/>
          </p:nvPr>
        </p:nvSpPr>
        <p:spPr>
          <a:xfrm>
            <a:off x="-65988" y="3602038"/>
            <a:ext cx="12257988" cy="3255962"/>
          </a:xfrm>
        </p:spPr>
        <p:txBody>
          <a:bodyPr>
            <a:normAutofit fontScale="92500" lnSpcReduction="10000"/>
          </a:bodyPr>
          <a:lstStyle/>
          <a:p>
            <a:r>
              <a:rPr lang="en-US" sz="2800" b="1" dirty="0">
                <a:latin typeface="Times New Roman" panose="02020603050405020304" pitchFamily="18" charset="0"/>
                <a:cs typeface="Times New Roman" panose="02020603050405020304" pitchFamily="18" charset="0"/>
              </a:rPr>
              <a:t>Title:</a:t>
            </a:r>
          </a:p>
          <a:p>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and Compare Growth Functions Using Mathematical Techniques </a:t>
            </a:r>
          </a:p>
          <a:p>
            <a:r>
              <a:rPr lang="en-IN" dirty="0">
                <a:latin typeface="Times New Roman" panose="02020603050405020304" pitchFamily="18" charset="0"/>
                <a:cs typeface="Times New Roman" panose="02020603050405020304" pitchFamily="18" charset="0"/>
              </a:rPr>
              <a:t>and Asymptotic Concepts with Graphical and Visual Interpretation</a:t>
            </a:r>
          </a:p>
          <a:p>
            <a:br>
              <a:rPr lang="en-US" sz="4000" dirty="0"/>
            </a:br>
            <a:endParaRPr lang="en-US" sz="4000" b="1" dirty="0">
              <a:latin typeface="Times New Roman" panose="02020603050405020304" pitchFamily="18" charset="0"/>
              <a:cs typeface="Times New Roman" panose="02020603050405020304" pitchFamily="18" charset="0"/>
            </a:endParaRPr>
          </a:p>
          <a:p>
            <a:pPr algn="l"/>
            <a:endParaRPr lang="en-US" sz="4000" b="1" dirty="0">
              <a:latin typeface="Times New Roman" panose="02020603050405020304" pitchFamily="18" charset="0"/>
              <a:cs typeface="Times New Roman" panose="02020603050405020304" pitchFamily="18" charset="0"/>
            </a:endParaRPr>
          </a:p>
          <a:p>
            <a:pPr algn="l"/>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Faculty Name: </a:t>
            </a:r>
            <a:r>
              <a:rPr lang="en-US" sz="2000" dirty="0" err="1">
                <a:latin typeface="Times New Roman" panose="02020603050405020304" pitchFamily="18" charset="0"/>
                <a:cs typeface="Times New Roman" panose="02020603050405020304" pitchFamily="18" charset="0"/>
              </a:rPr>
              <a:t>Dr.Nagarajan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Govindasami</a:t>
            </a:r>
            <a:endParaRPr lang="en-IN" sz="2000" dirty="0">
              <a:latin typeface="Times New Roman" panose="02020603050405020304" pitchFamily="18" charset="0"/>
              <a:cs typeface="Times New Roman" panose="02020603050405020304" pitchFamily="18" charset="0"/>
            </a:endParaRPr>
          </a:p>
        </p:txBody>
      </p:sp>
      <p:pic>
        <p:nvPicPr>
          <p:cNvPr id="5" name="object 4">
            <a:extLst>
              <a:ext uri="{FF2B5EF4-FFF2-40B4-BE49-F238E27FC236}">
                <a16:creationId xmlns:a16="http://schemas.microsoft.com/office/drawing/2014/main" id="{DECE7B2C-0671-B9D5-F27F-AD4FAC8FFC5E}"/>
              </a:ext>
            </a:extLst>
          </p:cNvPr>
          <p:cNvPicPr/>
          <p:nvPr/>
        </p:nvPicPr>
        <p:blipFill>
          <a:blip r:embed="rId2" cstate="print"/>
          <a:stretch>
            <a:fillRect/>
          </a:stretch>
        </p:blipFill>
        <p:spPr>
          <a:xfrm>
            <a:off x="1329179" y="96624"/>
            <a:ext cx="9068585" cy="1110007"/>
          </a:xfrm>
          <a:prstGeom prst="rect">
            <a:avLst/>
          </a:prstGeom>
        </p:spPr>
      </p:pic>
      <p:sp>
        <p:nvSpPr>
          <p:cNvPr id="8" name="TextBox 7">
            <a:extLst>
              <a:ext uri="{FF2B5EF4-FFF2-40B4-BE49-F238E27FC236}">
                <a16:creationId xmlns:a16="http://schemas.microsoft.com/office/drawing/2014/main" id="{2AAC109D-19E8-20AE-BF41-D099F414DC6B}"/>
              </a:ext>
            </a:extLst>
          </p:cNvPr>
          <p:cNvSpPr txBox="1"/>
          <p:nvPr/>
        </p:nvSpPr>
        <p:spPr>
          <a:xfrm>
            <a:off x="8277712" y="5881643"/>
            <a:ext cx="6167628" cy="707886"/>
          </a:xfrm>
          <a:prstGeom prst="rect">
            <a:avLst/>
          </a:prstGeom>
          <a:noFill/>
        </p:spPr>
        <p:txBody>
          <a:bodyPr wrap="square">
            <a:spAutoFit/>
          </a:bodyPr>
          <a:lstStyle/>
          <a:p>
            <a:pPr algn="l"/>
            <a:r>
              <a:rPr lang="en-IN" sz="2000" dirty="0">
                <a:latin typeface="Times New Roman" panose="02020603050405020304" pitchFamily="18" charset="0"/>
                <a:cs typeface="Times New Roman" panose="02020603050405020304" pitchFamily="18" charset="0"/>
              </a:rPr>
              <a:t>Name: </a:t>
            </a:r>
            <a:r>
              <a:rPr lang="en-IN" sz="2000" dirty="0" err="1">
                <a:latin typeface="Times New Roman" panose="02020603050405020304" pitchFamily="18" charset="0"/>
                <a:cs typeface="Times New Roman" panose="02020603050405020304" pitchFamily="18" charset="0"/>
              </a:rPr>
              <a:t>Ch.Akhil</a:t>
            </a:r>
            <a:endParaRPr lang="en-IN" sz="2000" dirty="0">
              <a:latin typeface="Times New Roman" panose="02020603050405020304" pitchFamily="18" charset="0"/>
              <a:cs typeface="Times New Roman" panose="02020603050405020304" pitchFamily="18" charset="0"/>
            </a:endParaRPr>
          </a:p>
          <a:p>
            <a:pPr algn="l"/>
            <a:r>
              <a:rPr lang="en-IN" sz="2000" dirty="0">
                <a:latin typeface="Times New Roman" panose="02020603050405020304" pitchFamily="18" charset="0"/>
                <a:cs typeface="Times New Roman" panose="02020603050405020304" pitchFamily="18" charset="0"/>
              </a:rPr>
              <a:t>Reg no:192525250</a:t>
            </a:r>
          </a:p>
        </p:txBody>
      </p:sp>
    </p:spTree>
    <p:extLst>
      <p:ext uri="{BB962C8B-B14F-4D97-AF65-F5344CB8AC3E}">
        <p14:creationId xmlns:p14="http://schemas.microsoft.com/office/powerpoint/2010/main" val="493190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D1819-D1AD-0C75-412F-A78D3595693D}"/>
              </a:ext>
            </a:extLst>
          </p:cNvPr>
          <p:cNvSpPr>
            <a:spLocks noGrp="1"/>
          </p:cNvSpPr>
          <p:nvPr>
            <p:ph type="title"/>
          </p:nvPr>
        </p:nvSpPr>
        <p:spPr>
          <a:xfrm>
            <a:off x="484209" y="96624"/>
            <a:ext cx="10515600" cy="1325563"/>
          </a:xfrm>
        </p:spPr>
        <p:txBody>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333DB530-BCEC-0A1C-68D0-AFE1BFB1F390}"/>
              </a:ext>
            </a:extLst>
          </p:cNvPr>
          <p:cNvSpPr>
            <a:spLocks noGrp="1" noChangeArrowheads="1"/>
          </p:cNvSpPr>
          <p:nvPr>
            <p:ph idx="1"/>
          </p:nvPr>
        </p:nvSpPr>
        <p:spPr bwMode="auto">
          <a:xfrm>
            <a:off x="943790" y="6512044"/>
            <a:ext cx="8184540" cy="49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endParaRPr lang="en-US" sz="2000" dirty="0">
              <a:latin typeface="Times New Roman" panose="02020603050405020304" pitchFamily="18" charset="0"/>
              <a:cs typeface="Times New Roman" panose="02020603050405020304" pitchFamily="18" charset="0"/>
            </a:endParaRPr>
          </a:p>
        </p:txBody>
      </p:sp>
      <p:pic>
        <p:nvPicPr>
          <p:cNvPr id="5" name="object 6">
            <a:extLst>
              <a:ext uri="{FF2B5EF4-FFF2-40B4-BE49-F238E27FC236}">
                <a16:creationId xmlns:a16="http://schemas.microsoft.com/office/drawing/2014/main" id="{0E5A6FB0-6654-2E72-3A69-E9AE95DE5C94}"/>
              </a:ext>
            </a:extLst>
          </p:cNvPr>
          <p:cNvPicPr/>
          <p:nvPr/>
        </p:nvPicPr>
        <p:blipFill>
          <a:blip r:embed="rId2" cstate="print"/>
          <a:stretch>
            <a:fillRect/>
          </a:stretch>
        </p:blipFill>
        <p:spPr>
          <a:xfrm>
            <a:off x="24628" y="16897"/>
            <a:ext cx="919162" cy="914399"/>
          </a:xfrm>
          <a:prstGeom prst="rect">
            <a:avLst/>
          </a:prstGeom>
        </p:spPr>
      </p:pic>
      <p:pic>
        <p:nvPicPr>
          <p:cNvPr id="6" name="object 7">
            <a:extLst>
              <a:ext uri="{FF2B5EF4-FFF2-40B4-BE49-F238E27FC236}">
                <a16:creationId xmlns:a16="http://schemas.microsoft.com/office/drawing/2014/main" id="{D87935BE-D134-E773-B960-45C81DC851F4}"/>
              </a:ext>
            </a:extLst>
          </p:cNvPr>
          <p:cNvPicPr/>
          <p:nvPr/>
        </p:nvPicPr>
        <p:blipFill>
          <a:blip r:embed="rId3" cstate="print"/>
          <a:stretch>
            <a:fillRect/>
          </a:stretch>
        </p:blipFill>
        <p:spPr>
          <a:xfrm>
            <a:off x="11361526" y="96624"/>
            <a:ext cx="698499" cy="885824"/>
          </a:xfrm>
          <a:prstGeom prst="rect">
            <a:avLst/>
          </a:prstGeom>
        </p:spPr>
      </p:pic>
      <p:sp>
        <p:nvSpPr>
          <p:cNvPr id="3" name="Rectangle 1">
            <a:extLst>
              <a:ext uri="{FF2B5EF4-FFF2-40B4-BE49-F238E27FC236}">
                <a16:creationId xmlns:a16="http://schemas.microsoft.com/office/drawing/2014/main" id="{02F9143C-09F7-6FB7-0413-87BCB6BC1E74}"/>
              </a:ext>
            </a:extLst>
          </p:cNvPr>
          <p:cNvSpPr>
            <a:spLocks noChangeArrowheads="1"/>
          </p:cNvSpPr>
          <p:nvPr/>
        </p:nvSpPr>
        <p:spPr bwMode="auto">
          <a:xfrm>
            <a:off x="887132" y="1155864"/>
            <a:ext cx="10417736"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2000" dirty="0"/>
              <a:t>Growth functions describe how an algorithm's execution time or memory usage increases as the input size (</a:t>
            </a:r>
            <a:r>
              <a:rPr lang="en-IN" sz="2000" b="1" dirty="0"/>
              <a:t>n</a:t>
            </a:r>
            <a:r>
              <a:rPr lang="en-IN" sz="2000" dirty="0"/>
              <a:t>) grows. They help evaluate algorithm efficiency and scalability. In AI and Expert Systems, </a:t>
            </a:r>
            <a:r>
              <a:rPr lang="en-IN" sz="2000" dirty="0" err="1"/>
              <a:t>analyzing</a:t>
            </a:r>
            <a:r>
              <a:rPr lang="en-IN" sz="2000" dirty="0"/>
              <a:t> growth functions is essential for selecting algorithms that provide faster execution and optimal resource utilization.</a:t>
            </a:r>
          </a:p>
          <a:p>
            <a:pPr>
              <a:lnSpc>
                <a:spcPct val="150000"/>
              </a:lnSpc>
            </a:pPr>
            <a:endParaRPr lang="en-IN" sz="2000" dirty="0"/>
          </a:p>
          <a:p>
            <a:endParaRPr lang="en-IN" sz="2000" dirty="0"/>
          </a:p>
          <a:p>
            <a:r>
              <a:rPr lang="en-IN" sz="2000" b="1" dirty="0"/>
              <a:t>Key Points:</a:t>
            </a:r>
          </a:p>
          <a:p>
            <a:endParaRPr lang="en-IN" sz="2000" dirty="0"/>
          </a:p>
          <a:p>
            <a:pPr marL="342900" indent="-342900">
              <a:buFont typeface="Arial" panose="020B0604020202020204" pitchFamily="34" charset="0"/>
              <a:buChar char="•"/>
            </a:pPr>
            <a:r>
              <a:rPr lang="en-IN" sz="2000" dirty="0"/>
              <a:t>Measures algorithm performance. </a:t>
            </a:r>
          </a:p>
          <a:p>
            <a:pPr marL="342900" indent="-342900">
              <a:buFont typeface="Arial" panose="020B0604020202020204" pitchFamily="34" charset="0"/>
              <a:buChar char="•"/>
            </a:pPr>
            <a:r>
              <a:rPr lang="en-IN" sz="2000" dirty="0"/>
              <a:t>Helps compare different algorithms. </a:t>
            </a:r>
          </a:p>
          <a:p>
            <a:pPr marL="342900" indent="-342900">
              <a:buFont typeface="Arial" panose="020B0604020202020204" pitchFamily="34" charset="0"/>
              <a:buChar char="•"/>
            </a:pPr>
            <a:r>
              <a:rPr lang="en-IN" sz="2000" dirty="0"/>
              <a:t>Supports efficient AI system design. </a:t>
            </a:r>
          </a:p>
          <a:p>
            <a:pPr marL="342900" indent="-342900">
              <a:buFont typeface="Arial" panose="020B0604020202020204" pitchFamily="34" charset="0"/>
              <a:buChar char="•"/>
            </a:pPr>
            <a:r>
              <a:rPr lang="en-IN" sz="2000" dirty="0"/>
              <a:t>Improves scalability for large datasets.</a:t>
            </a:r>
          </a:p>
          <a:p>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D1059BB-6F58-1473-59D2-8C92684A3E26}"/>
              </a:ext>
            </a:extLst>
          </p:cNvPr>
          <p:cNvPicPr>
            <a:picLocks noChangeAspect="1"/>
          </p:cNvPicPr>
          <p:nvPr/>
        </p:nvPicPr>
        <p:blipFill>
          <a:blip r:embed="rId4"/>
          <a:stretch>
            <a:fillRect/>
          </a:stretch>
        </p:blipFill>
        <p:spPr>
          <a:xfrm>
            <a:off x="8365612" y="3102617"/>
            <a:ext cx="1766529" cy="2649793"/>
          </a:xfrm>
          <a:prstGeom prst="rect">
            <a:avLst/>
          </a:prstGeom>
        </p:spPr>
      </p:pic>
    </p:spTree>
    <p:extLst>
      <p:ext uri="{BB962C8B-B14F-4D97-AF65-F5344CB8AC3E}">
        <p14:creationId xmlns:p14="http://schemas.microsoft.com/office/powerpoint/2010/main" val="1695097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AA7E57-4392-8FCC-7E54-FDE0B959FAA3}"/>
              </a:ext>
            </a:extLst>
          </p:cNvPr>
          <p:cNvSpPr>
            <a:spLocks noGrp="1"/>
          </p:cNvSpPr>
          <p:nvPr>
            <p:ph type="title"/>
          </p:nvPr>
        </p:nvSpPr>
        <p:spPr>
          <a:xfrm>
            <a:off x="838200" y="197964"/>
            <a:ext cx="10483392" cy="766742"/>
          </a:xfrm>
        </p:spPr>
        <p:txBody>
          <a:bodyPr>
            <a:normAutofit/>
          </a:bodyPr>
          <a:lstStyle/>
          <a:p>
            <a:pPr algn="ctr"/>
            <a:r>
              <a:rPr lang="en-IN" sz="4800" dirty="0"/>
              <a:t>Objectives &amp; Problem Statement</a:t>
            </a:r>
            <a:endParaRPr lang="en-IN" sz="4800" b="1"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DBBEBA2D-F9BD-539F-3FC6-143AB7735803}"/>
              </a:ext>
            </a:extLst>
          </p:cNvPr>
          <p:cNvSpPr>
            <a:spLocks noGrp="1" noChangeArrowheads="1"/>
          </p:cNvSpPr>
          <p:nvPr>
            <p:ph idx="1"/>
          </p:nvPr>
        </p:nvSpPr>
        <p:spPr bwMode="auto">
          <a:xfrm>
            <a:off x="393290" y="1156631"/>
            <a:ext cx="10968236" cy="5246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2400" b="1" dirty="0"/>
              <a:t>Objectives</a:t>
            </a:r>
          </a:p>
          <a:p>
            <a:pPr marL="0" indent="0">
              <a:buNone/>
            </a:pPr>
            <a:endParaRPr lang="en-IN" sz="2400" b="1" dirty="0"/>
          </a:p>
          <a:p>
            <a:r>
              <a:rPr lang="en-IN" sz="2000" dirty="0"/>
              <a:t>Understand the concept of growth functions. </a:t>
            </a:r>
          </a:p>
          <a:p>
            <a:r>
              <a:rPr lang="en-IN" sz="2000" dirty="0"/>
              <a:t>Compare algorithms using asymptotic notations. </a:t>
            </a:r>
          </a:p>
          <a:p>
            <a:r>
              <a:rPr lang="en-IN" sz="2000" dirty="0" err="1"/>
              <a:t>Analyze</a:t>
            </a:r>
            <a:r>
              <a:rPr lang="en-IN" sz="2000" dirty="0"/>
              <a:t> performance with mathematical techniques. </a:t>
            </a:r>
          </a:p>
          <a:p>
            <a:r>
              <a:rPr lang="en-IN" sz="2000" dirty="0"/>
              <a:t>Interpret results using graphs and tables. </a:t>
            </a:r>
          </a:p>
          <a:p>
            <a:endParaRPr lang="en-IN" sz="2000" dirty="0"/>
          </a:p>
          <a:p>
            <a:endParaRPr lang="en-IN" sz="2000" dirty="0"/>
          </a:p>
          <a:p>
            <a:pPr marL="0" indent="0">
              <a:buNone/>
            </a:pPr>
            <a:r>
              <a:rPr lang="en-IN" sz="2400" b="1" dirty="0"/>
              <a:t>Problem Statement</a:t>
            </a:r>
          </a:p>
          <a:p>
            <a:pPr marL="0" indent="0">
              <a:lnSpc>
                <a:spcPct val="150000"/>
              </a:lnSpc>
              <a:buNone/>
            </a:pPr>
            <a:r>
              <a:rPr lang="en-IN" sz="2000" dirty="0"/>
              <a:t>      AI and Expert Systems often process large amounts of data. Choosing an inefficient algorithm can increase execution time and memory usage. Growth function analysis helps identify algorithms that perform efficiently and scale well as the input size increases.</a:t>
            </a:r>
          </a:p>
        </p:txBody>
      </p:sp>
      <p:pic>
        <p:nvPicPr>
          <p:cNvPr id="7" name="object 6">
            <a:extLst>
              <a:ext uri="{FF2B5EF4-FFF2-40B4-BE49-F238E27FC236}">
                <a16:creationId xmlns:a16="http://schemas.microsoft.com/office/drawing/2014/main" id="{3C5BCAC7-A07F-1174-3FDC-4F9D081F72F3}"/>
              </a:ext>
            </a:extLst>
          </p:cNvPr>
          <p:cNvPicPr/>
          <p:nvPr/>
        </p:nvPicPr>
        <p:blipFill>
          <a:blip r:embed="rId2" cstate="print"/>
          <a:stretch>
            <a:fillRect/>
          </a:stretch>
        </p:blipFill>
        <p:spPr>
          <a:xfrm>
            <a:off x="131975" y="96624"/>
            <a:ext cx="919162" cy="914399"/>
          </a:xfrm>
          <a:prstGeom prst="rect">
            <a:avLst/>
          </a:prstGeom>
        </p:spPr>
      </p:pic>
      <p:pic>
        <p:nvPicPr>
          <p:cNvPr id="8" name="object 7">
            <a:extLst>
              <a:ext uri="{FF2B5EF4-FFF2-40B4-BE49-F238E27FC236}">
                <a16:creationId xmlns:a16="http://schemas.microsoft.com/office/drawing/2014/main" id="{B523E202-A826-43C1-4708-367D320FE8B9}"/>
              </a:ext>
            </a:extLst>
          </p:cNvPr>
          <p:cNvPicPr/>
          <p:nvPr/>
        </p:nvPicPr>
        <p:blipFill>
          <a:blip r:embed="rId3" cstate="print"/>
          <a:stretch>
            <a:fillRect/>
          </a:stretch>
        </p:blipFill>
        <p:spPr>
          <a:xfrm>
            <a:off x="11361526" y="96624"/>
            <a:ext cx="698499" cy="885824"/>
          </a:xfrm>
          <a:prstGeom prst="rect">
            <a:avLst/>
          </a:prstGeom>
        </p:spPr>
      </p:pic>
    </p:spTree>
    <p:extLst>
      <p:ext uri="{BB962C8B-B14F-4D97-AF65-F5344CB8AC3E}">
        <p14:creationId xmlns:p14="http://schemas.microsoft.com/office/powerpoint/2010/main" val="4262036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C3C36-6620-CB01-0E6D-FB9A8641D9F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6B36BD7-0CCF-7380-C87E-DFBE8663AE7A}"/>
              </a:ext>
            </a:extLst>
          </p:cNvPr>
          <p:cNvSpPr>
            <a:spLocks noGrp="1"/>
          </p:cNvSpPr>
          <p:nvPr>
            <p:ph type="title"/>
          </p:nvPr>
        </p:nvSpPr>
        <p:spPr>
          <a:xfrm>
            <a:off x="878134" y="599077"/>
            <a:ext cx="10483392" cy="766742"/>
          </a:xfrm>
        </p:spPr>
        <p:txBody>
          <a:bodyPr>
            <a:normAutofit/>
          </a:bodyPr>
          <a:lstStyle/>
          <a:p>
            <a:pPr algn="ctr"/>
            <a:r>
              <a:rPr lang="en-IN" sz="4800" dirty="0"/>
              <a:t>Growth Functions &amp; Asymptotic Analysis</a:t>
            </a:r>
            <a:endParaRPr lang="en-IN" sz="4800" b="1" dirty="0">
              <a:latin typeface="Times New Roman" panose="02020603050405020304" pitchFamily="18" charset="0"/>
              <a:cs typeface="Times New Roman" panose="02020603050405020304" pitchFamily="18" charset="0"/>
            </a:endParaRPr>
          </a:p>
        </p:txBody>
      </p:sp>
      <p:pic>
        <p:nvPicPr>
          <p:cNvPr id="7" name="object 6">
            <a:extLst>
              <a:ext uri="{FF2B5EF4-FFF2-40B4-BE49-F238E27FC236}">
                <a16:creationId xmlns:a16="http://schemas.microsoft.com/office/drawing/2014/main" id="{EC59EB4C-39B1-17A5-37E4-B4ED5CFABEC0}"/>
              </a:ext>
            </a:extLst>
          </p:cNvPr>
          <p:cNvPicPr/>
          <p:nvPr/>
        </p:nvPicPr>
        <p:blipFill>
          <a:blip r:embed="rId2" cstate="print"/>
          <a:stretch>
            <a:fillRect/>
          </a:stretch>
        </p:blipFill>
        <p:spPr>
          <a:xfrm>
            <a:off x="131975" y="96624"/>
            <a:ext cx="919162" cy="914399"/>
          </a:xfrm>
          <a:prstGeom prst="rect">
            <a:avLst/>
          </a:prstGeom>
        </p:spPr>
      </p:pic>
      <p:pic>
        <p:nvPicPr>
          <p:cNvPr id="8" name="object 7">
            <a:extLst>
              <a:ext uri="{FF2B5EF4-FFF2-40B4-BE49-F238E27FC236}">
                <a16:creationId xmlns:a16="http://schemas.microsoft.com/office/drawing/2014/main" id="{1BD6FC42-ED90-38A1-7A64-257CB5509F01}"/>
              </a:ext>
            </a:extLst>
          </p:cNvPr>
          <p:cNvPicPr/>
          <p:nvPr/>
        </p:nvPicPr>
        <p:blipFill>
          <a:blip r:embed="rId3" cstate="print"/>
          <a:stretch>
            <a:fillRect/>
          </a:stretch>
        </p:blipFill>
        <p:spPr>
          <a:xfrm>
            <a:off x="11361526" y="96624"/>
            <a:ext cx="698499" cy="885824"/>
          </a:xfrm>
          <a:prstGeom prst="rect">
            <a:avLst/>
          </a:prstGeom>
        </p:spPr>
      </p:pic>
      <p:graphicFrame>
        <p:nvGraphicFramePr>
          <p:cNvPr id="11" name="Content Placeholder 10">
            <a:extLst>
              <a:ext uri="{FF2B5EF4-FFF2-40B4-BE49-F238E27FC236}">
                <a16:creationId xmlns:a16="http://schemas.microsoft.com/office/drawing/2014/main" id="{625F1CD7-4A0E-564B-B434-2D7B9C3560B1}"/>
              </a:ext>
            </a:extLst>
          </p:cNvPr>
          <p:cNvGraphicFramePr>
            <a:graphicFrameLocks noGrp="1"/>
          </p:cNvGraphicFramePr>
          <p:nvPr>
            <p:ph idx="1"/>
            <p:extLst>
              <p:ext uri="{D42A27DB-BD31-4B8C-83A1-F6EECF244321}">
                <p14:modId xmlns:p14="http://schemas.microsoft.com/office/powerpoint/2010/main" val="3476889857"/>
              </p:ext>
            </p:extLst>
          </p:nvPr>
        </p:nvGraphicFramePr>
        <p:xfrm>
          <a:off x="878134" y="4663440"/>
          <a:ext cx="10714704" cy="4114800"/>
        </p:xfrm>
        <a:graphic>
          <a:graphicData uri="http://schemas.openxmlformats.org/drawingml/2006/table">
            <a:tbl>
              <a:tblPr/>
              <a:tblGrid>
                <a:gridCol w="5357352">
                  <a:extLst>
                    <a:ext uri="{9D8B030D-6E8A-4147-A177-3AD203B41FA5}">
                      <a16:colId xmlns:a16="http://schemas.microsoft.com/office/drawing/2014/main" val="892103660"/>
                    </a:ext>
                  </a:extLst>
                </a:gridCol>
                <a:gridCol w="5357352">
                  <a:extLst>
                    <a:ext uri="{9D8B030D-6E8A-4147-A177-3AD203B41FA5}">
                      <a16:colId xmlns:a16="http://schemas.microsoft.com/office/drawing/2014/main" val="1711864542"/>
                    </a:ext>
                  </a:extLst>
                </a:gridCol>
              </a:tblGrid>
              <a:tr h="0">
                <a:tc>
                  <a:txBody>
                    <a:bodyPr/>
                    <a:lstStyle/>
                    <a:p>
                      <a:endParaRPr lang="en-IN" b="1" dirty="0"/>
                    </a:p>
                    <a:p>
                      <a:r>
                        <a:rPr lang="en-IN" b="1" dirty="0"/>
                        <a:t>Asymptotic Notations:</a:t>
                      </a:r>
                    </a:p>
                    <a:p>
                      <a:endParaRPr lang="en-IN" b="1" dirty="0"/>
                    </a:p>
                    <a:p>
                      <a:r>
                        <a:rPr lang="en-IN" b="1" dirty="0"/>
                        <a:t>O(n)</a:t>
                      </a:r>
                      <a:r>
                        <a:rPr lang="en-IN" dirty="0"/>
                        <a:t> – Worst Case </a:t>
                      </a:r>
                    </a:p>
                    <a:p>
                      <a:r>
                        <a:rPr lang="en-IN" b="1" dirty="0"/>
                        <a:t>Ω(n)</a:t>
                      </a:r>
                      <a:r>
                        <a:rPr lang="en-IN" dirty="0"/>
                        <a:t> – Best Case </a:t>
                      </a:r>
                    </a:p>
                    <a:p>
                      <a:r>
                        <a:rPr lang="en-IN" b="1" dirty="0"/>
                        <a:t>Θ(n)</a:t>
                      </a:r>
                      <a:r>
                        <a:rPr lang="en-IN" dirty="0"/>
                        <a:t> – Average Case </a:t>
                      </a:r>
                    </a:p>
                    <a:p>
                      <a:r>
                        <a:rPr lang="en-IN" b="0" dirty="0"/>
                        <a:t>Lower complexity = Better performance</a:t>
                      </a:r>
                    </a:p>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947125091"/>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4200011488"/>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343807621"/>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692011810"/>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406495719"/>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2747976994"/>
                  </a:ext>
                </a:extLst>
              </a:tr>
            </a:tbl>
          </a:graphicData>
        </a:graphic>
      </p:graphicFrame>
      <p:graphicFrame>
        <p:nvGraphicFramePr>
          <p:cNvPr id="14" name="Table 13">
            <a:extLst>
              <a:ext uri="{FF2B5EF4-FFF2-40B4-BE49-F238E27FC236}">
                <a16:creationId xmlns:a16="http://schemas.microsoft.com/office/drawing/2014/main" id="{89EF4DD7-0FD8-9203-8E86-10D819403A3F}"/>
              </a:ext>
            </a:extLst>
          </p:cNvPr>
          <p:cNvGraphicFramePr>
            <a:graphicFrameLocks noGrp="1"/>
          </p:cNvGraphicFramePr>
          <p:nvPr>
            <p:extLst>
              <p:ext uri="{D42A27DB-BD31-4B8C-83A1-F6EECF244321}">
                <p14:modId xmlns:p14="http://schemas.microsoft.com/office/powerpoint/2010/main" val="559830300"/>
              </p:ext>
            </p:extLst>
          </p:nvPr>
        </p:nvGraphicFramePr>
        <p:xfrm>
          <a:off x="878134" y="1513476"/>
          <a:ext cx="8419692" cy="3076950"/>
        </p:xfrm>
        <a:graphic>
          <a:graphicData uri="http://schemas.openxmlformats.org/drawingml/2006/table">
            <a:tbl>
              <a:tblPr firstRow="1" bandRow="1">
                <a:tableStyleId>{5C22544A-7EE6-4342-B048-85BDC9FD1C3A}</a:tableStyleId>
              </a:tblPr>
              <a:tblGrid>
                <a:gridCol w="4209846">
                  <a:extLst>
                    <a:ext uri="{9D8B030D-6E8A-4147-A177-3AD203B41FA5}">
                      <a16:colId xmlns:a16="http://schemas.microsoft.com/office/drawing/2014/main" val="3309345648"/>
                    </a:ext>
                  </a:extLst>
                </a:gridCol>
                <a:gridCol w="4209846">
                  <a:extLst>
                    <a:ext uri="{9D8B030D-6E8A-4147-A177-3AD203B41FA5}">
                      <a16:colId xmlns:a16="http://schemas.microsoft.com/office/drawing/2014/main" val="3402927854"/>
                    </a:ext>
                  </a:extLst>
                </a:gridCol>
              </a:tblGrid>
              <a:tr h="512825">
                <a:tc>
                  <a:txBody>
                    <a:bodyPr/>
                    <a:lstStyle/>
                    <a:p>
                      <a:endParaRPr lang="en-IN"/>
                    </a:p>
                  </a:txBody>
                  <a:tcPr/>
                </a:tc>
                <a:tc>
                  <a:txBody>
                    <a:bodyPr/>
                    <a:lstStyle/>
                    <a:p>
                      <a:endParaRPr lang="en-IN"/>
                    </a:p>
                  </a:txBody>
                  <a:tcPr/>
                </a:tc>
                <a:extLst>
                  <a:ext uri="{0D108BD9-81ED-4DB2-BD59-A6C34878D82A}">
                    <a16:rowId xmlns:a16="http://schemas.microsoft.com/office/drawing/2014/main" val="415769901"/>
                  </a:ext>
                </a:extLst>
              </a:tr>
              <a:tr h="512825">
                <a:tc>
                  <a:txBody>
                    <a:bodyPr/>
                    <a:lstStyle/>
                    <a:p>
                      <a:endParaRPr lang="en-IN"/>
                    </a:p>
                  </a:txBody>
                  <a:tcPr/>
                </a:tc>
                <a:tc>
                  <a:txBody>
                    <a:bodyPr/>
                    <a:lstStyle/>
                    <a:p>
                      <a:endParaRPr lang="en-IN"/>
                    </a:p>
                  </a:txBody>
                  <a:tcPr/>
                </a:tc>
                <a:extLst>
                  <a:ext uri="{0D108BD9-81ED-4DB2-BD59-A6C34878D82A}">
                    <a16:rowId xmlns:a16="http://schemas.microsoft.com/office/drawing/2014/main" val="4164672097"/>
                  </a:ext>
                </a:extLst>
              </a:tr>
              <a:tr h="512825">
                <a:tc>
                  <a:txBody>
                    <a:bodyPr/>
                    <a:lstStyle/>
                    <a:p>
                      <a:endParaRPr lang="en-IN" dirty="0"/>
                    </a:p>
                  </a:txBody>
                  <a:tcPr/>
                </a:tc>
                <a:tc>
                  <a:txBody>
                    <a:bodyPr/>
                    <a:lstStyle/>
                    <a:p>
                      <a:endParaRPr lang="en-IN"/>
                    </a:p>
                  </a:txBody>
                  <a:tcPr/>
                </a:tc>
                <a:extLst>
                  <a:ext uri="{0D108BD9-81ED-4DB2-BD59-A6C34878D82A}">
                    <a16:rowId xmlns:a16="http://schemas.microsoft.com/office/drawing/2014/main" val="3212941484"/>
                  </a:ext>
                </a:extLst>
              </a:tr>
              <a:tr h="512825">
                <a:tc>
                  <a:txBody>
                    <a:bodyPr/>
                    <a:lstStyle/>
                    <a:p>
                      <a:endParaRPr lang="en-IN" dirty="0"/>
                    </a:p>
                  </a:txBody>
                  <a:tcPr/>
                </a:tc>
                <a:tc>
                  <a:txBody>
                    <a:bodyPr/>
                    <a:lstStyle/>
                    <a:p>
                      <a:endParaRPr lang="en-IN"/>
                    </a:p>
                  </a:txBody>
                  <a:tcPr/>
                </a:tc>
                <a:extLst>
                  <a:ext uri="{0D108BD9-81ED-4DB2-BD59-A6C34878D82A}">
                    <a16:rowId xmlns:a16="http://schemas.microsoft.com/office/drawing/2014/main" val="3591384341"/>
                  </a:ext>
                </a:extLst>
              </a:tr>
              <a:tr h="512825">
                <a:tc>
                  <a:txBody>
                    <a:bodyPr/>
                    <a:lstStyle/>
                    <a:p>
                      <a:endParaRPr lang="en-IN" dirty="0"/>
                    </a:p>
                  </a:txBody>
                  <a:tcPr/>
                </a:tc>
                <a:tc>
                  <a:txBody>
                    <a:bodyPr/>
                    <a:lstStyle/>
                    <a:p>
                      <a:endParaRPr lang="en-IN"/>
                    </a:p>
                  </a:txBody>
                  <a:tcPr/>
                </a:tc>
                <a:extLst>
                  <a:ext uri="{0D108BD9-81ED-4DB2-BD59-A6C34878D82A}">
                    <a16:rowId xmlns:a16="http://schemas.microsoft.com/office/drawing/2014/main" val="3265733670"/>
                  </a:ext>
                </a:extLst>
              </a:tr>
              <a:tr h="512825">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220068966"/>
                  </a:ext>
                </a:extLst>
              </a:tr>
            </a:tbl>
          </a:graphicData>
        </a:graphic>
      </p:graphicFrame>
      <p:graphicFrame>
        <p:nvGraphicFramePr>
          <p:cNvPr id="15" name="Table 14">
            <a:extLst>
              <a:ext uri="{FF2B5EF4-FFF2-40B4-BE49-F238E27FC236}">
                <a16:creationId xmlns:a16="http://schemas.microsoft.com/office/drawing/2014/main" id="{27D21068-D99F-E70E-7A30-952E6B287C3A}"/>
              </a:ext>
            </a:extLst>
          </p:cNvPr>
          <p:cNvGraphicFramePr>
            <a:graphicFrameLocks noGrp="1"/>
          </p:cNvGraphicFramePr>
          <p:nvPr>
            <p:extLst>
              <p:ext uri="{D42A27DB-BD31-4B8C-83A1-F6EECF244321}">
                <p14:modId xmlns:p14="http://schemas.microsoft.com/office/powerpoint/2010/main" val="2656020735"/>
              </p:ext>
            </p:extLst>
          </p:nvPr>
        </p:nvGraphicFramePr>
        <p:xfrm>
          <a:off x="878134" y="1513474"/>
          <a:ext cx="10583510" cy="3076950"/>
        </p:xfrm>
        <a:graphic>
          <a:graphicData uri="http://schemas.openxmlformats.org/drawingml/2006/table">
            <a:tbl>
              <a:tblPr/>
              <a:tblGrid>
                <a:gridCol w="5291755">
                  <a:extLst>
                    <a:ext uri="{9D8B030D-6E8A-4147-A177-3AD203B41FA5}">
                      <a16:colId xmlns:a16="http://schemas.microsoft.com/office/drawing/2014/main" val="2632665259"/>
                    </a:ext>
                  </a:extLst>
                </a:gridCol>
                <a:gridCol w="5291755">
                  <a:extLst>
                    <a:ext uri="{9D8B030D-6E8A-4147-A177-3AD203B41FA5}">
                      <a16:colId xmlns:a16="http://schemas.microsoft.com/office/drawing/2014/main" val="3600934452"/>
                    </a:ext>
                  </a:extLst>
                </a:gridCol>
              </a:tblGrid>
              <a:tr h="512825">
                <a:tc>
                  <a:txBody>
                    <a:bodyPr/>
                    <a:lstStyle/>
                    <a:p>
                      <a:pPr>
                        <a:buNone/>
                      </a:pPr>
                      <a:r>
                        <a:rPr lang="en-IN" b="1"/>
                        <a:t>Time Complexity</a:t>
                      </a:r>
                      <a:endParaRPr lang="en-IN"/>
                    </a:p>
                  </a:txBody>
                  <a:tcPr anchor="ctr">
                    <a:lnL>
                      <a:noFill/>
                    </a:lnL>
                    <a:lnR>
                      <a:noFill/>
                    </a:lnR>
                    <a:lnT>
                      <a:noFill/>
                    </a:lnT>
                    <a:lnB>
                      <a:noFill/>
                    </a:lnB>
                    <a:noFill/>
                  </a:tcPr>
                </a:tc>
                <a:tc>
                  <a:txBody>
                    <a:bodyPr/>
                    <a:lstStyle/>
                    <a:p>
                      <a:pPr>
                        <a:buNone/>
                      </a:pPr>
                      <a:r>
                        <a:rPr lang="en-IN" b="1"/>
                        <a:t>Common Example</a:t>
                      </a:r>
                      <a:endParaRPr lang="en-IN"/>
                    </a:p>
                  </a:txBody>
                  <a:tcPr anchor="ctr">
                    <a:lnL>
                      <a:noFill/>
                    </a:lnL>
                    <a:lnR>
                      <a:noFill/>
                    </a:lnR>
                    <a:lnT>
                      <a:noFill/>
                    </a:lnT>
                    <a:lnB>
                      <a:noFill/>
                    </a:lnB>
                    <a:noFill/>
                  </a:tcPr>
                </a:tc>
                <a:extLst>
                  <a:ext uri="{0D108BD9-81ED-4DB2-BD59-A6C34878D82A}">
                    <a16:rowId xmlns:a16="http://schemas.microsoft.com/office/drawing/2014/main" val="2230730761"/>
                  </a:ext>
                </a:extLst>
              </a:tr>
              <a:tr h="512825">
                <a:tc>
                  <a:txBody>
                    <a:bodyPr/>
                    <a:lstStyle/>
                    <a:p>
                      <a:pPr>
                        <a:buNone/>
                      </a:pPr>
                      <a:r>
                        <a:rPr lang="en-IN" dirty="0"/>
                        <a:t>O(1)</a:t>
                      </a:r>
                    </a:p>
                  </a:txBody>
                  <a:tcPr anchor="ctr">
                    <a:lnL>
                      <a:noFill/>
                    </a:lnL>
                    <a:lnR>
                      <a:noFill/>
                    </a:lnR>
                    <a:lnT>
                      <a:noFill/>
                    </a:lnT>
                    <a:lnB>
                      <a:noFill/>
                    </a:lnB>
                    <a:noFill/>
                  </a:tcPr>
                </a:tc>
                <a:tc>
                  <a:txBody>
                    <a:bodyPr/>
                    <a:lstStyle/>
                    <a:p>
                      <a:pPr>
                        <a:buNone/>
                      </a:pPr>
                      <a:r>
                        <a:rPr lang="en-IN"/>
                        <a:t>Hash Table Lookup</a:t>
                      </a:r>
                    </a:p>
                  </a:txBody>
                  <a:tcPr anchor="ctr">
                    <a:lnL>
                      <a:noFill/>
                    </a:lnL>
                    <a:lnR>
                      <a:noFill/>
                    </a:lnR>
                    <a:lnT>
                      <a:noFill/>
                    </a:lnT>
                    <a:lnB>
                      <a:noFill/>
                    </a:lnB>
                    <a:noFill/>
                  </a:tcPr>
                </a:tc>
                <a:extLst>
                  <a:ext uri="{0D108BD9-81ED-4DB2-BD59-A6C34878D82A}">
                    <a16:rowId xmlns:a16="http://schemas.microsoft.com/office/drawing/2014/main" val="880088663"/>
                  </a:ext>
                </a:extLst>
              </a:tr>
              <a:tr h="512825">
                <a:tc>
                  <a:txBody>
                    <a:bodyPr/>
                    <a:lstStyle/>
                    <a:p>
                      <a:pPr>
                        <a:buNone/>
                      </a:pPr>
                      <a:r>
                        <a:rPr lang="en-IN"/>
                        <a:t>O(log n)</a:t>
                      </a:r>
                    </a:p>
                  </a:txBody>
                  <a:tcPr anchor="ctr">
                    <a:lnL>
                      <a:noFill/>
                    </a:lnL>
                    <a:lnR>
                      <a:noFill/>
                    </a:lnR>
                    <a:lnT>
                      <a:noFill/>
                    </a:lnT>
                    <a:lnB>
                      <a:noFill/>
                    </a:lnB>
                    <a:noFill/>
                  </a:tcPr>
                </a:tc>
                <a:tc>
                  <a:txBody>
                    <a:bodyPr/>
                    <a:lstStyle/>
                    <a:p>
                      <a:pPr>
                        <a:buNone/>
                      </a:pPr>
                      <a:r>
                        <a:rPr lang="en-IN" dirty="0"/>
                        <a:t>Binary Search</a:t>
                      </a:r>
                    </a:p>
                  </a:txBody>
                  <a:tcPr anchor="ctr">
                    <a:lnL>
                      <a:noFill/>
                    </a:lnL>
                    <a:lnR>
                      <a:noFill/>
                    </a:lnR>
                    <a:lnT>
                      <a:noFill/>
                    </a:lnT>
                    <a:lnB>
                      <a:noFill/>
                    </a:lnB>
                    <a:noFill/>
                  </a:tcPr>
                </a:tc>
                <a:extLst>
                  <a:ext uri="{0D108BD9-81ED-4DB2-BD59-A6C34878D82A}">
                    <a16:rowId xmlns:a16="http://schemas.microsoft.com/office/drawing/2014/main" val="1184783841"/>
                  </a:ext>
                </a:extLst>
              </a:tr>
              <a:tr h="512825">
                <a:tc>
                  <a:txBody>
                    <a:bodyPr/>
                    <a:lstStyle/>
                    <a:p>
                      <a:pPr>
                        <a:buNone/>
                      </a:pPr>
                      <a:r>
                        <a:rPr lang="en-IN"/>
                        <a:t>O(n)</a:t>
                      </a:r>
                    </a:p>
                  </a:txBody>
                  <a:tcPr anchor="ctr">
                    <a:lnL>
                      <a:noFill/>
                    </a:lnL>
                    <a:lnR>
                      <a:noFill/>
                    </a:lnR>
                    <a:lnT>
                      <a:noFill/>
                    </a:lnT>
                    <a:lnB>
                      <a:noFill/>
                    </a:lnB>
                    <a:noFill/>
                  </a:tcPr>
                </a:tc>
                <a:tc>
                  <a:txBody>
                    <a:bodyPr/>
                    <a:lstStyle/>
                    <a:p>
                      <a:pPr>
                        <a:buNone/>
                      </a:pPr>
                      <a:r>
                        <a:rPr lang="en-IN"/>
                        <a:t>Linear Search</a:t>
                      </a:r>
                    </a:p>
                  </a:txBody>
                  <a:tcPr anchor="ctr">
                    <a:lnL>
                      <a:noFill/>
                    </a:lnL>
                    <a:lnR>
                      <a:noFill/>
                    </a:lnR>
                    <a:lnT>
                      <a:noFill/>
                    </a:lnT>
                    <a:lnB>
                      <a:noFill/>
                    </a:lnB>
                    <a:noFill/>
                  </a:tcPr>
                </a:tc>
                <a:extLst>
                  <a:ext uri="{0D108BD9-81ED-4DB2-BD59-A6C34878D82A}">
                    <a16:rowId xmlns:a16="http://schemas.microsoft.com/office/drawing/2014/main" val="1285080444"/>
                  </a:ext>
                </a:extLst>
              </a:tr>
              <a:tr h="512825">
                <a:tc>
                  <a:txBody>
                    <a:bodyPr/>
                    <a:lstStyle/>
                    <a:p>
                      <a:pPr>
                        <a:buNone/>
                      </a:pPr>
                      <a:r>
                        <a:rPr lang="en-IN"/>
                        <a:t>O(n log n)</a:t>
                      </a:r>
                    </a:p>
                  </a:txBody>
                  <a:tcPr anchor="ctr">
                    <a:lnL>
                      <a:noFill/>
                    </a:lnL>
                    <a:lnR>
                      <a:noFill/>
                    </a:lnR>
                    <a:lnT>
                      <a:noFill/>
                    </a:lnT>
                    <a:lnB>
                      <a:noFill/>
                    </a:lnB>
                    <a:noFill/>
                  </a:tcPr>
                </a:tc>
                <a:tc>
                  <a:txBody>
                    <a:bodyPr/>
                    <a:lstStyle/>
                    <a:p>
                      <a:pPr>
                        <a:buNone/>
                      </a:pPr>
                      <a:r>
                        <a:rPr lang="en-IN"/>
                        <a:t>Merge Sort</a:t>
                      </a:r>
                    </a:p>
                  </a:txBody>
                  <a:tcPr anchor="ctr">
                    <a:lnL>
                      <a:noFill/>
                    </a:lnL>
                    <a:lnR>
                      <a:noFill/>
                    </a:lnR>
                    <a:lnT>
                      <a:noFill/>
                    </a:lnT>
                    <a:lnB>
                      <a:noFill/>
                    </a:lnB>
                    <a:noFill/>
                  </a:tcPr>
                </a:tc>
                <a:extLst>
                  <a:ext uri="{0D108BD9-81ED-4DB2-BD59-A6C34878D82A}">
                    <a16:rowId xmlns:a16="http://schemas.microsoft.com/office/drawing/2014/main" val="3015277155"/>
                  </a:ext>
                </a:extLst>
              </a:tr>
              <a:tr h="512825">
                <a:tc>
                  <a:txBody>
                    <a:bodyPr/>
                    <a:lstStyle/>
                    <a:p>
                      <a:pPr>
                        <a:buNone/>
                      </a:pPr>
                      <a:r>
                        <a:rPr lang="en-IN"/>
                        <a:t>O(n²)</a:t>
                      </a:r>
                    </a:p>
                  </a:txBody>
                  <a:tcPr anchor="ctr">
                    <a:lnL>
                      <a:noFill/>
                    </a:lnL>
                    <a:lnR>
                      <a:noFill/>
                    </a:lnR>
                    <a:lnT>
                      <a:noFill/>
                    </a:lnT>
                    <a:lnB>
                      <a:noFill/>
                    </a:lnB>
                    <a:noFill/>
                  </a:tcPr>
                </a:tc>
                <a:tc>
                  <a:txBody>
                    <a:bodyPr/>
                    <a:lstStyle/>
                    <a:p>
                      <a:pPr>
                        <a:buNone/>
                      </a:pPr>
                      <a:r>
                        <a:rPr lang="en-IN" dirty="0"/>
                        <a:t>Bubble Sort</a:t>
                      </a:r>
                    </a:p>
                  </a:txBody>
                  <a:tcPr anchor="ctr">
                    <a:lnL>
                      <a:noFill/>
                    </a:lnL>
                    <a:lnR>
                      <a:noFill/>
                    </a:lnR>
                    <a:lnT>
                      <a:noFill/>
                    </a:lnT>
                    <a:lnB>
                      <a:noFill/>
                    </a:lnB>
                    <a:noFill/>
                  </a:tcPr>
                </a:tc>
                <a:extLst>
                  <a:ext uri="{0D108BD9-81ED-4DB2-BD59-A6C34878D82A}">
                    <a16:rowId xmlns:a16="http://schemas.microsoft.com/office/drawing/2014/main" val="3173636143"/>
                  </a:ext>
                </a:extLst>
              </a:tr>
            </a:tbl>
          </a:graphicData>
        </a:graphic>
      </p:graphicFrame>
    </p:spTree>
    <p:extLst>
      <p:ext uri="{BB962C8B-B14F-4D97-AF65-F5344CB8AC3E}">
        <p14:creationId xmlns:p14="http://schemas.microsoft.com/office/powerpoint/2010/main" val="436472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DDA32-6456-691A-D9E7-A62892E6812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EA6FAE1-2AD7-855D-EDAB-8116D8627E59}"/>
              </a:ext>
            </a:extLst>
          </p:cNvPr>
          <p:cNvSpPr>
            <a:spLocks noGrp="1"/>
          </p:cNvSpPr>
          <p:nvPr>
            <p:ph type="title"/>
          </p:nvPr>
        </p:nvSpPr>
        <p:spPr>
          <a:xfrm>
            <a:off x="838200" y="197964"/>
            <a:ext cx="10483392" cy="766742"/>
          </a:xfrm>
        </p:spPr>
        <p:txBody>
          <a:bodyPr>
            <a:normAutofit/>
          </a:bodyPr>
          <a:lstStyle/>
          <a:p>
            <a:pPr algn="ctr"/>
            <a:r>
              <a:rPr lang="en-IN" sz="4800" dirty="0" err="1"/>
              <a:t>Comparitive</a:t>
            </a:r>
            <a:r>
              <a:rPr lang="en-IN" sz="4800" dirty="0"/>
              <a:t> analysis</a:t>
            </a:r>
            <a:endParaRPr lang="en-IN" sz="4800" b="1"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28044FD9-6CD1-4580-2B94-2E291D61F7CC}"/>
              </a:ext>
            </a:extLst>
          </p:cNvPr>
          <p:cNvSpPr>
            <a:spLocks noGrp="1" noChangeArrowheads="1"/>
          </p:cNvSpPr>
          <p:nvPr>
            <p:ph idx="1"/>
          </p:nvPr>
        </p:nvSpPr>
        <p:spPr bwMode="auto">
          <a:xfrm>
            <a:off x="1120877" y="1759767"/>
            <a:ext cx="5794777" cy="371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defRPr sz="1800"/>
            </a:pPr>
            <a:r>
              <a:rPr lang="en-US" sz="2000" b="1" dirty="0"/>
              <a:t>Algorithm </a:t>
            </a:r>
            <a:r>
              <a:rPr lang="en-US" sz="2000" b="1" dirty="0" err="1"/>
              <a:t>comparision</a:t>
            </a:r>
            <a:endParaRPr lang="en-US" sz="2000" b="1" dirty="0"/>
          </a:p>
        </p:txBody>
      </p:sp>
      <p:pic>
        <p:nvPicPr>
          <p:cNvPr id="7" name="object 6">
            <a:extLst>
              <a:ext uri="{FF2B5EF4-FFF2-40B4-BE49-F238E27FC236}">
                <a16:creationId xmlns:a16="http://schemas.microsoft.com/office/drawing/2014/main" id="{7C1D5550-0B85-F13B-C614-656E37C3648F}"/>
              </a:ext>
            </a:extLst>
          </p:cNvPr>
          <p:cNvPicPr/>
          <p:nvPr/>
        </p:nvPicPr>
        <p:blipFill>
          <a:blip r:embed="rId2" cstate="print"/>
          <a:stretch>
            <a:fillRect/>
          </a:stretch>
        </p:blipFill>
        <p:spPr>
          <a:xfrm>
            <a:off x="131975" y="96624"/>
            <a:ext cx="919162" cy="914399"/>
          </a:xfrm>
          <a:prstGeom prst="rect">
            <a:avLst/>
          </a:prstGeom>
        </p:spPr>
      </p:pic>
      <p:pic>
        <p:nvPicPr>
          <p:cNvPr id="8" name="object 7">
            <a:extLst>
              <a:ext uri="{FF2B5EF4-FFF2-40B4-BE49-F238E27FC236}">
                <a16:creationId xmlns:a16="http://schemas.microsoft.com/office/drawing/2014/main" id="{34D7E508-B467-40E5-0B4E-922D12FED89E}"/>
              </a:ext>
            </a:extLst>
          </p:cNvPr>
          <p:cNvPicPr/>
          <p:nvPr/>
        </p:nvPicPr>
        <p:blipFill>
          <a:blip r:embed="rId3" cstate="print"/>
          <a:stretch>
            <a:fillRect/>
          </a:stretch>
        </p:blipFill>
        <p:spPr>
          <a:xfrm>
            <a:off x="11361526" y="96624"/>
            <a:ext cx="698499" cy="885824"/>
          </a:xfrm>
          <a:prstGeom prst="rect">
            <a:avLst/>
          </a:prstGeom>
        </p:spPr>
      </p:pic>
      <p:graphicFrame>
        <p:nvGraphicFramePr>
          <p:cNvPr id="3" name="Table 2">
            <a:extLst>
              <a:ext uri="{FF2B5EF4-FFF2-40B4-BE49-F238E27FC236}">
                <a16:creationId xmlns:a16="http://schemas.microsoft.com/office/drawing/2014/main" id="{9C6ACACA-0456-3723-FE0E-0D35B9E52A80}"/>
              </a:ext>
            </a:extLst>
          </p:cNvPr>
          <p:cNvGraphicFramePr>
            <a:graphicFrameLocks noGrp="1"/>
          </p:cNvGraphicFramePr>
          <p:nvPr>
            <p:extLst>
              <p:ext uri="{D42A27DB-BD31-4B8C-83A1-F6EECF244321}">
                <p14:modId xmlns:p14="http://schemas.microsoft.com/office/powerpoint/2010/main" val="2749168879"/>
              </p:ext>
            </p:extLst>
          </p:nvPr>
        </p:nvGraphicFramePr>
        <p:xfrm>
          <a:off x="805992" y="1969213"/>
          <a:ext cx="10515600" cy="1828800"/>
        </p:xfrm>
        <a:graphic>
          <a:graphicData uri="http://schemas.openxmlformats.org/drawingml/2006/table">
            <a:tbl>
              <a:tblPr/>
              <a:tblGrid>
                <a:gridCol w="3505200">
                  <a:extLst>
                    <a:ext uri="{9D8B030D-6E8A-4147-A177-3AD203B41FA5}">
                      <a16:colId xmlns:a16="http://schemas.microsoft.com/office/drawing/2014/main" val="1748255474"/>
                    </a:ext>
                  </a:extLst>
                </a:gridCol>
                <a:gridCol w="3505200">
                  <a:extLst>
                    <a:ext uri="{9D8B030D-6E8A-4147-A177-3AD203B41FA5}">
                      <a16:colId xmlns:a16="http://schemas.microsoft.com/office/drawing/2014/main" val="1441787539"/>
                    </a:ext>
                  </a:extLst>
                </a:gridCol>
                <a:gridCol w="3505200">
                  <a:extLst>
                    <a:ext uri="{9D8B030D-6E8A-4147-A177-3AD203B41FA5}">
                      <a16:colId xmlns:a16="http://schemas.microsoft.com/office/drawing/2014/main" val="518108656"/>
                    </a:ext>
                  </a:extLst>
                </a:gridCol>
              </a:tblGrid>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19524688"/>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075534142"/>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478455357"/>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434316442"/>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578875988"/>
                  </a:ext>
                </a:extLst>
              </a:tr>
            </a:tbl>
          </a:graphicData>
        </a:graphic>
      </p:graphicFrame>
      <p:graphicFrame>
        <p:nvGraphicFramePr>
          <p:cNvPr id="4" name="Table 3">
            <a:extLst>
              <a:ext uri="{FF2B5EF4-FFF2-40B4-BE49-F238E27FC236}">
                <a16:creationId xmlns:a16="http://schemas.microsoft.com/office/drawing/2014/main" id="{733A5EE7-7919-4CC3-86E7-D428740FD89D}"/>
              </a:ext>
            </a:extLst>
          </p:cNvPr>
          <p:cNvGraphicFramePr>
            <a:graphicFrameLocks noGrp="1"/>
          </p:cNvGraphicFramePr>
          <p:nvPr>
            <p:extLst>
              <p:ext uri="{D42A27DB-BD31-4B8C-83A1-F6EECF244321}">
                <p14:modId xmlns:p14="http://schemas.microsoft.com/office/powerpoint/2010/main" val="2844819687"/>
              </p:ext>
            </p:extLst>
          </p:nvPr>
        </p:nvGraphicFramePr>
        <p:xfrm>
          <a:off x="1120877" y="2424425"/>
          <a:ext cx="8308257" cy="1921430"/>
        </p:xfrm>
        <a:graphic>
          <a:graphicData uri="http://schemas.openxmlformats.org/drawingml/2006/table">
            <a:tbl>
              <a:tblPr firstRow="1" bandRow="1">
                <a:tableStyleId>{5C22544A-7EE6-4342-B048-85BDC9FD1C3A}</a:tableStyleId>
              </a:tblPr>
              <a:tblGrid>
                <a:gridCol w="2769419">
                  <a:extLst>
                    <a:ext uri="{9D8B030D-6E8A-4147-A177-3AD203B41FA5}">
                      <a16:colId xmlns:a16="http://schemas.microsoft.com/office/drawing/2014/main" val="1098759575"/>
                    </a:ext>
                  </a:extLst>
                </a:gridCol>
                <a:gridCol w="2769419">
                  <a:extLst>
                    <a:ext uri="{9D8B030D-6E8A-4147-A177-3AD203B41FA5}">
                      <a16:colId xmlns:a16="http://schemas.microsoft.com/office/drawing/2014/main" val="2942085367"/>
                    </a:ext>
                  </a:extLst>
                </a:gridCol>
                <a:gridCol w="2769419">
                  <a:extLst>
                    <a:ext uri="{9D8B030D-6E8A-4147-A177-3AD203B41FA5}">
                      <a16:colId xmlns:a16="http://schemas.microsoft.com/office/drawing/2014/main" val="1589114744"/>
                    </a:ext>
                  </a:extLst>
                </a:gridCol>
              </a:tblGrid>
              <a:tr h="384286">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21809835"/>
                  </a:ext>
                </a:extLst>
              </a:tr>
              <a:tr h="384286">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596212933"/>
                  </a:ext>
                </a:extLst>
              </a:tr>
              <a:tr h="384286">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01435985"/>
                  </a:ext>
                </a:extLst>
              </a:tr>
              <a:tr h="384286">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111778682"/>
                  </a:ext>
                </a:extLst>
              </a:tr>
              <a:tr h="384286">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38789511"/>
                  </a:ext>
                </a:extLst>
              </a:tr>
            </a:tbl>
          </a:graphicData>
        </a:graphic>
      </p:graphicFrame>
      <p:graphicFrame>
        <p:nvGraphicFramePr>
          <p:cNvPr id="9" name="Table 8">
            <a:extLst>
              <a:ext uri="{FF2B5EF4-FFF2-40B4-BE49-F238E27FC236}">
                <a16:creationId xmlns:a16="http://schemas.microsoft.com/office/drawing/2014/main" id="{697A80DD-D727-6F74-6756-487B2FA1A57C}"/>
              </a:ext>
            </a:extLst>
          </p:cNvPr>
          <p:cNvGraphicFramePr>
            <a:graphicFrameLocks noGrp="1"/>
          </p:cNvGraphicFramePr>
          <p:nvPr>
            <p:extLst>
              <p:ext uri="{D42A27DB-BD31-4B8C-83A1-F6EECF244321}">
                <p14:modId xmlns:p14="http://schemas.microsoft.com/office/powerpoint/2010/main" val="2194547249"/>
              </p:ext>
            </p:extLst>
          </p:nvPr>
        </p:nvGraphicFramePr>
        <p:xfrm>
          <a:off x="1199534" y="2424425"/>
          <a:ext cx="10227396" cy="1828800"/>
        </p:xfrm>
        <a:graphic>
          <a:graphicData uri="http://schemas.openxmlformats.org/drawingml/2006/table">
            <a:tbl>
              <a:tblPr/>
              <a:tblGrid>
                <a:gridCol w="3409132">
                  <a:extLst>
                    <a:ext uri="{9D8B030D-6E8A-4147-A177-3AD203B41FA5}">
                      <a16:colId xmlns:a16="http://schemas.microsoft.com/office/drawing/2014/main" val="947805866"/>
                    </a:ext>
                  </a:extLst>
                </a:gridCol>
                <a:gridCol w="3409132">
                  <a:extLst>
                    <a:ext uri="{9D8B030D-6E8A-4147-A177-3AD203B41FA5}">
                      <a16:colId xmlns:a16="http://schemas.microsoft.com/office/drawing/2014/main" val="3594111142"/>
                    </a:ext>
                  </a:extLst>
                </a:gridCol>
                <a:gridCol w="3409132">
                  <a:extLst>
                    <a:ext uri="{9D8B030D-6E8A-4147-A177-3AD203B41FA5}">
                      <a16:colId xmlns:a16="http://schemas.microsoft.com/office/drawing/2014/main" val="218637303"/>
                    </a:ext>
                  </a:extLst>
                </a:gridCol>
              </a:tblGrid>
              <a:tr h="199750">
                <a:tc>
                  <a:txBody>
                    <a:bodyPr/>
                    <a:lstStyle/>
                    <a:p>
                      <a:pPr>
                        <a:buNone/>
                      </a:pPr>
                      <a:r>
                        <a:rPr lang="en-IN"/>
                        <a:t>Algorithm</a:t>
                      </a:r>
                    </a:p>
                  </a:txBody>
                  <a:tcPr anchor="ctr">
                    <a:lnL>
                      <a:noFill/>
                    </a:lnL>
                    <a:lnR>
                      <a:noFill/>
                    </a:lnR>
                    <a:lnT>
                      <a:noFill/>
                    </a:lnT>
                    <a:lnB>
                      <a:noFill/>
                    </a:lnB>
                    <a:noFill/>
                  </a:tcPr>
                </a:tc>
                <a:tc>
                  <a:txBody>
                    <a:bodyPr/>
                    <a:lstStyle/>
                    <a:p>
                      <a:pPr>
                        <a:buNone/>
                      </a:pPr>
                      <a:r>
                        <a:rPr lang="en-IN"/>
                        <a:t>Complexity</a:t>
                      </a:r>
                    </a:p>
                  </a:txBody>
                  <a:tcPr anchor="ctr">
                    <a:lnL>
                      <a:noFill/>
                    </a:lnL>
                    <a:lnR>
                      <a:noFill/>
                    </a:lnR>
                    <a:lnT>
                      <a:noFill/>
                    </a:lnT>
                    <a:lnB>
                      <a:noFill/>
                    </a:lnB>
                    <a:noFill/>
                  </a:tcPr>
                </a:tc>
                <a:tc>
                  <a:txBody>
                    <a:bodyPr/>
                    <a:lstStyle/>
                    <a:p>
                      <a:pPr>
                        <a:buNone/>
                      </a:pPr>
                      <a:r>
                        <a:rPr lang="en-IN"/>
                        <a:t>Performance</a:t>
                      </a:r>
                    </a:p>
                  </a:txBody>
                  <a:tcPr anchor="ctr">
                    <a:lnL>
                      <a:noFill/>
                    </a:lnL>
                    <a:lnR>
                      <a:noFill/>
                    </a:lnR>
                    <a:lnT>
                      <a:noFill/>
                    </a:lnT>
                    <a:lnB>
                      <a:noFill/>
                    </a:lnB>
                    <a:noFill/>
                  </a:tcPr>
                </a:tc>
                <a:extLst>
                  <a:ext uri="{0D108BD9-81ED-4DB2-BD59-A6C34878D82A}">
                    <a16:rowId xmlns:a16="http://schemas.microsoft.com/office/drawing/2014/main" val="650755861"/>
                  </a:ext>
                </a:extLst>
              </a:tr>
              <a:tr h="199750">
                <a:tc>
                  <a:txBody>
                    <a:bodyPr/>
                    <a:lstStyle/>
                    <a:p>
                      <a:pPr>
                        <a:buNone/>
                      </a:pPr>
                      <a:r>
                        <a:rPr lang="en-IN" dirty="0"/>
                        <a:t>Binary Search</a:t>
                      </a:r>
                    </a:p>
                  </a:txBody>
                  <a:tcPr anchor="ctr">
                    <a:lnL>
                      <a:noFill/>
                    </a:lnL>
                    <a:lnR>
                      <a:noFill/>
                    </a:lnR>
                    <a:lnT>
                      <a:noFill/>
                    </a:lnT>
                    <a:lnB>
                      <a:noFill/>
                    </a:lnB>
                    <a:noFill/>
                  </a:tcPr>
                </a:tc>
                <a:tc>
                  <a:txBody>
                    <a:bodyPr/>
                    <a:lstStyle/>
                    <a:p>
                      <a:pPr>
                        <a:buNone/>
                      </a:pPr>
                      <a:r>
                        <a:rPr lang="en-IN"/>
                        <a:t>O(log n)</a:t>
                      </a:r>
                    </a:p>
                  </a:txBody>
                  <a:tcPr anchor="ctr">
                    <a:lnL>
                      <a:noFill/>
                    </a:lnL>
                    <a:lnR>
                      <a:noFill/>
                    </a:lnR>
                    <a:lnT>
                      <a:noFill/>
                    </a:lnT>
                    <a:lnB>
                      <a:noFill/>
                    </a:lnB>
                    <a:noFill/>
                  </a:tcPr>
                </a:tc>
                <a:tc>
                  <a:txBody>
                    <a:bodyPr/>
                    <a:lstStyle/>
                    <a:p>
                      <a:pPr>
                        <a:buNone/>
                      </a:pPr>
                      <a:r>
                        <a:rPr lang="en-IN"/>
                        <a:t>Excellent</a:t>
                      </a:r>
                    </a:p>
                  </a:txBody>
                  <a:tcPr anchor="ctr">
                    <a:lnL>
                      <a:noFill/>
                    </a:lnL>
                    <a:lnR>
                      <a:noFill/>
                    </a:lnR>
                    <a:lnT>
                      <a:noFill/>
                    </a:lnT>
                    <a:lnB>
                      <a:noFill/>
                    </a:lnB>
                    <a:noFill/>
                  </a:tcPr>
                </a:tc>
                <a:extLst>
                  <a:ext uri="{0D108BD9-81ED-4DB2-BD59-A6C34878D82A}">
                    <a16:rowId xmlns:a16="http://schemas.microsoft.com/office/drawing/2014/main" val="829931257"/>
                  </a:ext>
                </a:extLst>
              </a:tr>
              <a:tr h="199750">
                <a:tc>
                  <a:txBody>
                    <a:bodyPr/>
                    <a:lstStyle/>
                    <a:p>
                      <a:pPr>
                        <a:buNone/>
                      </a:pPr>
                      <a:r>
                        <a:rPr lang="en-IN" dirty="0"/>
                        <a:t>Linear Search</a:t>
                      </a:r>
                    </a:p>
                  </a:txBody>
                  <a:tcPr anchor="ctr">
                    <a:lnL>
                      <a:noFill/>
                    </a:lnL>
                    <a:lnR>
                      <a:noFill/>
                    </a:lnR>
                    <a:lnT>
                      <a:noFill/>
                    </a:lnT>
                    <a:lnB>
                      <a:noFill/>
                    </a:lnB>
                    <a:noFill/>
                  </a:tcPr>
                </a:tc>
                <a:tc>
                  <a:txBody>
                    <a:bodyPr/>
                    <a:lstStyle/>
                    <a:p>
                      <a:pPr>
                        <a:buNone/>
                      </a:pPr>
                      <a:r>
                        <a:rPr lang="en-IN"/>
                        <a:t>O(n)</a:t>
                      </a:r>
                    </a:p>
                  </a:txBody>
                  <a:tcPr anchor="ctr">
                    <a:lnL>
                      <a:noFill/>
                    </a:lnL>
                    <a:lnR>
                      <a:noFill/>
                    </a:lnR>
                    <a:lnT>
                      <a:noFill/>
                    </a:lnT>
                    <a:lnB>
                      <a:noFill/>
                    </a:lnB>
                    <a:noFill/>
                  </a:tcPr>
                </a:tc>
                <a:tc>
                  <a:txBody>
                    <a:bodyPr/>
                    <a:lstStyle/>
                    <a:p>
                      <a:pPr>
                        <a:buNone/>
                      </a:pPr>
                      <a:r>
                        <a:rPr lang="en-IN"/>
                        <a:t>Good</a:t>
                      </a:r>
                    </a:p>
                  </a:txBody>
                  <a:tcPr anchor="ctr">
                    <a:lnL>
                      <a:noFill/>
                    </a:lnL>
                    <a:lnR>
                      <a:noFill/>
                    </a:lnR>
                    <a:lnT>
                      <a:noFill/>
                    </a:lnT>
                    <a:lnB>
                      <a:noFill/>
                    </a:lnB>
                    <a:noFill/>
                  </a:tcPr>
                </a:tc>
                <a:extLst>
                  <a:ext uri="{0D108BD9-81ED-4DB2-BD59-A6C34878D82A}">
                    <a16:rowId xmlns:a16="http://schemas.microsoft.com/office/drawing/2014/main" val="2243431409"/>
                  </a:ext>
                </a:extLst>
              </a:tr>
              <a:tr h="199750">
                <a:tc>
                  <a:txBody>
                    <a:bodyPr/>
                    <a:lstStyle/>
                    <a:p>
                      <a:pPr>
                        <a:buNone/>
                      </a:pPr>
                      <a:r>
                        <a:rPr lang="en-IN"/>
                        <a:t>Merge Sort</a:t>
                      </a:r>
                    </a:p>
                  </a:txBody>
                  <a:tcPr anchor="ctr">
                    <a:lnL>
                      <a:noFill/>
                    </a:lnL>
                    <a:lnR>
                      <a:noFill/>
                    </a:lnR>
                    <a:lnT>
                      <a:noFill/>
                    </a:lnT>
                    <a:lnB>
                      <a:noFill/>
                    </a:lnB>
                    <a:noFill/>
                  </a:tcPr>
                </a:tc>
                <a:tc>
                  <a:txBody>
                    <a:bodyPr/>
                    <a:lstStyle/>
                    <a:p>
                      <a:pPr>
                        <a:buNone/>
                      </a:pPr>
                      <a:r>
                        <a:rPr lang="en-IN"/>
                        <a:t>O(n log n)</a:t>
                      </a:r>
                    </a:p>
                  </a:txBody>
                  <a:tcPr anchor="ctr">
                    <a:lnL>
                      <a:noFill/>
                    </a:lnL>
                    <a:lnR>
                      <a:noFill/>
                    </a:lnR>
                    <a:lnT>
                      <a:noFill/>
                    </a:lnT>
                    <a:lnB>
                      <a:noFill/>
                    </a:lnB>
                    <a:noFill/>
                  </a:tcPr>
                </a:tc>
                <a:tc>
                  <a:txBody>
                    <a:bodyPr/>
                    <a:lstStyle/>
                    <a:p>
                      <a:pPr>
                        <a:buNone/>
                      </a:pPr>
                      <a:r>
                        <a:rPr lang="en-IN"/>
                        <a:t>Very Good</a:t>
                      </a:r>
                    </a:p>
                  </a:txBody>
                  <a:tcPr anchor="ctr">
                    <a:lnL>
                      <a:noFill/>
                    </a:lnL>
                    <a:lnR>
                      <a:noFill/>
                    </a:lnR>
                    <a:lnT>
                      <a:noFill/>
                    </a:lnT>
                    <a:lnB>
                      <a:noFill/>
                    </a:lnB>
                    <a:noFill/>
                  </a:tcPr>
                </a:tc>
                <a:extLst>
                  <a:ext uri="{0D108BD9-81ED-4DB2-BD59-A6C34878D82A}">
                    <a16:rowId xmlns:a16="http://schemas.microsoft.com/office/drawing/2014/main" val="1981079555"/>
                  </a:ext>
                </a:extLst>
              </a:tr>
              <a:tr h="199750">
                <a:tc>
                  <a:txBody>
                    <a:bodyPr/>
                    <a:lstStyle/>
                    <a:p>
                      <a:pPr>
                        <a:buNone/>
                      </a:pPr>
                      <a:r>
                        <a:rPr lang="en-IN"/>
                        <a:t>Bubble Sort</a:t>
                      </a:r>
                    </a:p>
                  </a:txBody>
                  <a:tcPr anchor="ctr">
                    <a:lnL>
                      <a:noFill/>
                    </a:lnL>
                    <a:lnR>
                      <a:noFill/>
                    </a:lnR>
                    <a:lnT>
                      <a:noFill/>
                    </a:lnT>
                    <a:lnB>
                      <a:noFill/>
                    </a:lnB>
                    <a:noFill/>
                  </a:tcPr>
                </a:tc>
                <a:tc>
                  <a:txBody>
                    <a:bodyPr/>
                    <a:lstStyle/>
                    <a:p>
                      <a:pPr>
                        <a:buNone/>
                      </a:pPr>
                      <a:r>
                        <a:rPr lang="en-IN" dirty="0"/>
                        <a:t>O(n²)</a:t>
                      </a:r>
                    </a:p>
                  </a:txBody>
                  <a:tcPr anchor="ctr">
                    <a:lnL>
                      <a:noFill/>
                    </a:lnL>
                    <a:lnR>
                      <a:noFill/>
                    </a:lnR>
                    <a:lnT>
                      <a:noFill/>
                    </a:lnT>
                    <a:lnB>
                      <a:noFill/>
                    </a:lnB>
                    <a:noFill/>
                  </a:tcPr>
                </a:tc>
                <a:tc>
                  <a:txBody>
                    <a:bodyPr/>
                    <a:lstStyle/>
                    <a:p>
                      <a:pPr>
                        <a:buNone/>
                      </a:pPr>
                      <a:r>
                        <a:rPr lang="en-IN" dirty="0"/>
                        <a:t>Poor</a:t>
                      </a:r>
                    </a:p>
                  </a:txBody>
                  <a:tcPr anchor="ctr">
                    <a:lnL>
                      <a:noFill/>
                    </a:lnL>
                    <a:lnR>
                      <a:noFill/>
                    </a:lnR>
                    <a:lnT>
                      <a:noFill/>
                    </a:lnT>
                    <a:lnB>
                      <a:noFill/>
                    </a:lnB>
                    <a:noFill/>
                  </a:tcPr>
                </a:tc>
                <a:extLst>
                  <a:ext uri="{0D108BD9-81ED-4DB2-BD59-A6C34878D82A}">
                    <a16:rowId xmlns:a16="http://schemas.microsoft.com/office/drawing/2014/main" val="68265077"/>
                  </a:ext>
                </a:extLst>
              </a:tr>
            </a:tbl>
          </a:graphicData>
        </a:graphic>
      </p:graphicFrame>
      <p:sp>
        <p:nvSpPr>
          <p:cNvPr id="13" name="TextBox 12">
            <a:extLst>
              <a:ext uri="{FF2B5EF4-FFF2-40B4-BE49-F238E27FC236}">
                <a16:creationId xmlns:a16="http://schemas.microsoft.com/office/drawing/2014/main" id="{275BD432-492A-3406-1E3C-D092AEC18659}"/>
              </a:ext>
            </a:extLst>
          </p:cNvPr>
          <p:cNvSpPr txBox="1"/>
          <p:nvPr/>
        </p:nvSpPr>
        <p:spPr>
          <a:xfrm>
            <a:off x="1120877" y="5464666"/>
            <a:ext cx="7502013" cy="646331"/>
          </a:xfrm>
          <a:prstGeom prst="rect">
            <a:avLst/>
          </a:prstGeom>
          <a:noFill/>
        </p:spPr>
        <p:txBody>
          <a:bodyPr wrap="square">
            <a:spAutoFit/>
          </a:bodyPr>
          <a:lstStyle/>
          <a:p>
            <a:r>
              <a:rPr lang="en-IN" b="1" dirty="0"/>
              <a:t>Interpretation:</a:t>
            </a:r>
            <a:r>
              <a:rPr lang="en-IN" dirty="0"/>
              <a:t> Lower complexity algorithms require fewer operations and are more suitable for AI applications.</a:t>
            </a:r>
          </a:p>
        </p:txBody>
      </p:sp>
    </p:spTree>
    <p:extLst>
      <p:ext uri="{BB962C8B-B14F-4D97-AF65-F5344CB8AC3E}">
        <p14:creationId xmlns:p14="http://schemas.microsoft.com/office/powerpoint/2010/main" val="2035270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8C93-3D60-62E2-B5C2-E64877DC2644}"/>
              </a:ext>
            </a:extLst>
          </p:cNvPr>
          <p:cNvSpPr>
            <a:spLocks noGrp="1"/>
          </p:cNvSpPr>
          <p:nvPr>
            <p:ph type="title"/>
          </p:nvPr>
        </p:nvSpPr>
        <p:spPr/>
        <p:txBody>
          <a:bodyPr>
            <a:normAutofit/>
          </a:bodyPr>
          <a:lstStyle/>
          <a:p>
            <a:pPr algn="ctr"/>
            <a:endParaRPr lang="en-IN" sz="4800" b="1"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D5BD3CD6-5A1F-E36E-655F-3B9FBCE94D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6424" y="1959189"/>
            <a:ext cx="6911975" cy="3887986"/>
          </a:xfrm>
          <a:prstGeom prst="rect">
            <a:avLst/>
          </a:prstGeom>
        </p:spPr>
      </p:pic>
      <p:pic>
        <p:nvPicPr>
          <p:cNvPr id="4" name="object 6">
            <a:extLst>
              <a:ext uri="{FF2B5EF4-FFF2-40B4-BE49-F238E27FC236}">
                <a16:creationId xmlns:a16="http://schemas.microsoft.com/office/drawing/2014/main" id="{C6AC90CC-858D-E797-6161-15E0245C6089}"/>
              </a:ext>
            </a:extLst>
          </p:cNvPr>
          <p:cNvPicPr/>
          <p:nvPr/>
        </p:nvPicPr>
        <p:blipFill>
          <a:blip r:embed="rId3" cstate="print"/>
          <a:stretch>
            <a:fillRect/>
          </a:stretch>
        </p:blipFill>
        <p:spPr>
          <a:xfrm>
            <a:off x="131975" y="96624"/>
            <a:ext cx="919162" cy="914399"/>
          </a:xfrm>
          <a:prstGeom prst="rect">
            <a:avLst/>
          </a:prstGeom>
        </p:spPr>
      </p:pic>
      <p:pic>
        <p:nvPicPr>
          <p:cNvPr id="5" name="object 7">
            <a:extLst>
              <a:ext uri="{FF2B5EF4-FFF2-40B4-BE49-F238E27FC236}">
                <a16:creationId xmlns:a16="http://schemas.microsoft.com/office/drawing/2014/main" id="{44257C9B-F50E-9AD6-0A54-FE5C670C0E51}"/>
              </a:ext>
            </a:extLst>
          </p:cNvPr>
          <p:cNvPicPr/>
          <p:nvPr/>
        </p:nvPicPr>
        <p:blipFill>
          <a:blip r:embed="rId4" cstate="print"/>
          <a:stretch>
            <a:fillRect/>
          </a:stretch>
        </p:blipFill>
        <p:spPr>
          <a:xfrm>
            <a:off x="11361526" y="96624"/>
            <a:ext cx="698499" cy="885824"/>
          </a:xfrm>
          <a:prstGeom prst="rect">
            <a:avLst/>
          </a:prstGeom>
        </p:spPr>
      </p:pic>
    </p:spTree>
    <p:extLst>
      <p:ext uri="{BB962C8B-B14F-4D97-AF65-F5344CB8AC3E}">
        <p14:creationId xmlns:p14="http://schemas.microsoft.com/office/powerpoint/2010/main" val="1982852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365DB-5F9B-6D35-04A4-0603333E6909}"/>
              </a:ext>
            </a:extLst>
          </p:cNvPr>
          <p:cNvSpPr>
            <a:spLocks noGrp="1"/>
          </p:cNvSpPr>
          <p:nvPr>
            <p:ph type="title"/>
          </p:nvPr>
        </p:nvSpPr>
        <p:spPr/>
        <p:txBody>
          <a:bodyPr/>
          <a:lstStyle/>
          <a:p>
            <a:pPr algn="ctr"/>
            <a:r>
              <a:rPr lang="en-IN" dirty="0"/>
              <a:t>Applications in AI &amp; Expert System</a:t>
            </a:r>
          </a:p>
        </p:txBody>
      </p:sp>
      <p:sp>
        <p:nvSpPr>
          <p:cNvPr id="3" name="Content Placeholder 2">
            <a:extLst>
              <a:ext uri="{FF2B5EF4-FFF2-40B4-BE49-F238E27FC236}">
                <a16:creationId xmlns:a16="http://schemas.microsoft.com/office/drawing/2014/main" id="{38166A21-271B-04CD-4743-FA16930D260A}"/>
              </a:ext>
            </a:extLst>
          </p:cNvPr>
          <p:cNvSpPr>
            <a:spLocks noGrp="1"/>
          </p:cNvSpPr>
          <p:nvPr>
            <p:ph idx="1"/>
          </p:nvPr>
        </p:nvSpPr>
        <p:spPr/>
        <p:txBody>
          <a:bodyPr>
            <a:normAutofit/>
          </a:bodyPr>
          <a:lstStyle/>
          <a:p>
            <a:pPr marL="0" indent="0">
              <a:buNone/>
            </a:pPr>
            <a:endParaRPr lang="en-IN" sz="2400" b="1" dirty="0"/>
          </a:p>
          <a:p>
            <a:pPr marL="0" indent="0">
              <a:buNone/>
            </a:pPr>
            <a:r>
              <a:rPr lang="en-IN" sz="2400" b="1" dirty="0"/>
              <a:t>Applications:</a:t>
            </a:r>
          </a:p>
          <a:p>
            <a:pPr marL="0" indent="0">
              <a:buNone/>
            </a:pPr>
            <a:endParaRPr lang="en-IN" sz="2400" b="1" dirty="0"/>
          </a:p>
          <a:p>
            <a:r>
              <a:rPr lang="en-IN" sz="2000" dirty="0"/>
              <a:t>Growth function analysis helps improve the performance of intelligent systems by selecting efficient algorithms.</a:t>
            </a:r>
          </a:p>
          <a:p>
            <a:r>
              <a:rPr lang="en-IN" sz="2000" dirty="0"/>
              <a:t>Knowledge base searching </a:t>
            </a:r>
          </a:p>
          <a:p>
            <a:r>
              <a:rPr lang="en-IN" sz="2000" dirty="0"/>
              <a:t>Rule-based expert systems </a:t>
            </a:r>
          </a:p>
          <a:p>
            <a:r>
              <a:rPr lang="en-IN" sz="2000" dirty="0"/>
              <a:t>Machine learning data processing </a:t>
            </a:r>
          </a:p>
          <a:p>
            <a:r>
              <a:rPr lang="en-IN" sz="2000" dirty="0"/>
              <a:t>Robotics and path planning </a:t>
            </a:r>
          </a:p>
          <a:p>
            <a:r>
              <a:rPr lang="en-IN" sz="2000" dirty="0"/>
              <a:t>Game AI and decision-making</a:t>
            </a:r>
          </a:p>
          <a:p>
            <a:endParaRPr lang="en-IN" sz="2000" dirty="0"/>
          </a:p>
        </p:txBody>
      </p:sp>
      <p:pic>
        <p:nvPicPr>
          <p:cNvPr id="4" name="object 6">
            <a:extLst>
              <a:ext uri="{FF2B5EF4-FFF2-40B4-BE49-F238E27FC236}">
                <a16:creationId xmlns:a16="http://schemas.microsoft.com/office/drawing/2014/main" id="{9BF7EA96-0278-9345-0ADA-F66CCB528420}"/>
              </a:ext>
            </a:extLst>
          </p:cNvPr>
          <p:cNvPicPr/>
          <p:nvPr/>
        </p:nvPicPr>
        <p:blipFill>
          <a:blip r:embed="rId2" cstate="print"/>
          <a:stretch>
            <a:fillRect/>
          </a:stretch>
        </p:blipFill>
        <p:spPr>
          <a:xfrm>
            <a:off x="131975" y="96624"/>
            <a:ext cx="919162" cy="914399"/>
          </a:xfrm>
          <a:prstGeom prst="rect">
            <a:avLst/>
          </a:prstGeom>
        </p:spPr>
      </p:pic>
      <p:pic>
        <p:nvPicPr>
          <p:cNvPr id="5" name="object 7">
            <a:extLst>
              <a:ext uri="{FF2B5EF4-FFF2-40B4-BE49-F238E27FC236}">
                <a16:creationId xmlns:a16="http://schemas.microsoft.com/office/drawing/2014/main" id="{CE1ACD90-3304-4AEF-E55E-CA64937E8470}"/>
              </a:ext>
            </a:extLst>
          </p:cNvPr>
          <p:cNvPicPr/>
          <p:nvPr/>
        </p:nvPicPr>
        <p:blipFill>
          <a:blip r:embed="rId3" cstate="print"/>
          <a:stretch>
            <a:fillRect/>
          </a:stretch>
        </p:blipFill>
        <p:spPr>
          <a:xfrm>
            <a:off x="11361526" y="96624"/>
            <a:ext cx="698499" cy="885824"/>
          </a:xfrm>
          <a:prstGeom prst="rect">
            <a:avLst/>
          </a:prstGeom>
        </p:spPr>
      </p:pic>
      <p:pic>
        <p:nvPicPr>
          <p:cNvPr id="8" name="Picture 7">
            <a:extLst>
              <a:ext uri="{FF2B5EF4-FFF2-40B4-BE49-F238E27FC236}">
                <a16:creationId xmlns:a16="http://schemas.microsoft.com/office/drawing/2014/main" id="{3C0E9048-FD18-DA07-501F-B33D920C9178}"/>
              </a:ext>
            </a:extLst>
          </p:cNvPr>
          <p:cNvPicPr>
            <a:picLocks noChangeAspect="1"/>
          </p:cNvPicPr>
          <p:nvPr/>
        </p:nvPicPr>
        <p:blipFill>
          <a:blip r:embed="rId4"/>
          <a:stretch>
            <a:fillRect/>
          </a:stretch>
        </p:blipFill>
        <p:spPr>
          <a:xfrm>
            <a:off x="6204155" y="3676245"/>
            <a:ext cx="4198374" cy="2816630"/>
          </a:xfrm>
          <a:prstGeom prst="rect">
            <a:avLst/>
          </a:prstGeom>
        </p:spPr>
      </p:pic>
    </p:spTree>
    <p:extLst>
      <p:ext uri="{BB962C8B-B14F-4D97-AF65-F5344CB8AC3E}">
        <p14:creationId xmlns:p14="http://schemas.microsoft.com/office/powerpoint/2010/main" val="2119195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2C0D7-377C-1E20-4691-66577927B49C}"/>
              </a:ext>
            </a:extLst>
          </p:cNvPr>
          <p:cNvSpPr>
            <a:spLocks noGrp="1"/>
          </p:cNvSpPr>
          <p:nvPr>
            <p:ph type="title"/>
          </p:nvPr>
        </p:nvSpPr>
        <p:spPr/>
        <p:txBody>
          <a:bodyPr/>
          <a:lstStyle/>
          <a:p>
            <a:pPr algn="ctr"/>
            <a:r>
              <a:rPr lang="en-US" dirty="0"/>
              <a:t>Conclusion</a:t>
            </a:r>
            <a:endParaRPr lang="en-IN" dirty="0"/>
          </a:p>
        </p:txBody>
      </p:sp>
      <p:sp>
        <p:nvSpPr>
          <p:cNvPr id="3" name="Content Placeholder 2">
            <a:extLst>
              <a:ext uri="{FF2B5EF4-FFF2-40B4-BE49-F238E27FC236}">
                <a16:creationId xmlns:a16="http://schemas.microsoft.com/office/drawing/2014/main" id="{8E0E16A1-BF4D-42D7-24F7-1A0AD0EDAE91}"/>
              </a:ext>
            </a:extLst>
          </p:cNvPr>
          <p:cNvSpPr>
            <a:spLocks noGrp="1"/>
          </p:cNvSpPr>
          <p:nvPr>
            <p:ph idx="1"/>
          </p:nvPr>
        </p:nvSpPr>
        <p:spPr/>
        <p:txBody>
          <a:bodyPr>
            <a:normAutofit/>
          </a:bodyPr>
          <a:lstStyle/>
          <a:p>
            <a:pPr marL="0" indent="0">
              <a:lnSpc>
                <a:spcPct val="150000"/>
              </a:lnSpc>
              <a:buNone/>
            </a:pPr>
            <a:r>
              <a:rPr lang="en-IN" sz="2000" dirty="0"/>
              <a:t>Growth functions provide a mathematical way to </a:t>
            </a:r>
            <a:r>
              <a:rPr lang="en-IN" sz="2000" dirty="0" err="1"/>
              <a:t>analyze</a:t>
            </a:r>
            <a:r>
              <a:rPr lang="en-IN" sz="2000" dirty="0"/>
              <a:t> algorithm performance. Asymptotic notations help compare algorithms based on their efficiency and scalability. Graphs and tables make these comparisons easier to understand. Choosing algorithms with lower growth rates enables AI and Expert Systems to achieve faster execution, better resource utilization, and improved overall performance.</a:t>
            </a:r>
          </a:p>
          <a:p>
            <a:pPr>
              <a:lnSpc>
                <a:spcPct val="150000"/>
              </a:lnSpc>
            </a:pPr>
            <a:endParaRPr lang="en-IN" sz="2000" dirty="0"/>
          </a:p>
          <a:p>
            <a:pPr>
              <a:lnSpc>
                <a:spcPct val="150000"/>
              </a:lnSpc>
            </a:pPr>
            <a:endParaRPr lang="en-IN" sz="2000" dirty="0"/>
          </a:p>
          <a:p>
            <a:pPr marL="0" indent="0" algn="ctr">
              <a:lnSpc>
                <a:spcPct val="150000"/>
              </a:lnSpc>
              <a:buNone/>
            </a:pPr>
            <a:r>
              <a:rPr lang="en-IN" sz="2400" b="1" dirty="0"/>
              <a:t>THANK YOU</a:t>
            </a:r>
          </a:p>
        </p:txBody>
      </p:sp>
      <p:pic>
        <p:nvPicPr>
          <p:cNvPr id="4" name="object 6">
            <a:extLst>
              <a:ext uri="{FF2B5EF4-FFF2-40B4-BE49-F238E27FC236}">
                <a16:creationId xmlns:a16="http://schemas.microsoft.com/office/drawing/2014/main" id="{FEEF2A18-C0F3-92E4-9D46-BACB2C53736A}"/>
              </a:ext>
            </a:extLst>
          </p:cNvPr>
          <p:cNvPicPr/>
          <p:nvPr/>
        </p:nvPicPr>
        <p:blipFill>
          <a:blip r:embed="rId2" cstate="print"/>
          <a:stretch>
            <a:fillRect/>
          </a:stretch>
        </p:blipFill>
        <p:spPr>
          <a:xfrm>
            <a:off x="131975" y="96624"/>
            <a:ext cx="919162" cy="914399"/>
          </a:xfrm>
          <a:prstGeom prst="rect">
            <a:avLst/>
          </a:prstGeom>
        </p:spPr>
      </p:pic>
      <p:pic>
        <p:nvPicPr>
          <p:cNvPr id="5" name="object 7">
            <a:extLst>
              <a:ext uri="{FF2B5EF4-FFF2-40B4-BE49-F238E27FC236}">
                <a16:creationId xmlns:a16="http://schemas.microsoft.com/office/drawing/2014/main" id="{4D1AA6F1-41A6-5A48-DCF4-FDE7AC0466D0}"/>
              </a:ext>
            </a:extLst>
          </p:cNvPr>
          <p:cNvPicPr/>
          <p:nvPr/>
        </p:nvPicPr>
        <p:blipFill>
          <a:blip r:embed="rId3" cstate="print"/>
          <a:stretch>
            <a:fillRect/>
          </a:stretch>
        </p:blipFill>
        <p:spPr>
          <a:xfrm>
            <a:off x="11361526" y="96624"/>
            <a:ext cx="698499" cy="885824"/>
          </a:xfrm>
          <a:prstGeom prst="rect">
            <a:avLst/>
          </a:prstGeom>
        </p:spPr>
      </p:pic>
    </p:spTree>
    <p:extLst>
      <p:ext uri="{BB962C8B-B14F-4D97-AF65-F5344CB8AC3E}">
        <p14:creationId xmlns:p14="http://schemas.microsoft.com/office/powerpoint/2010/main" val="2324366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424</Words>
  <Application>Microsoft Office PowerPoint</Application>
  <PresentationFormat>Widescreen</PresentationFormat>
  <Paragraphs>83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Times New Roman</vt:lpstr>
      <vt:lpstr>Office Theme</vt:lpstr>
      <vt:lpstr>CSA-0615 Design and analysis of algorithms </vt:lpstr>
      <vt:lpstr>Introduction</vt:lpstr>
      <vt:lpstr>Objectives &amp; Problem Statement</vt:lpstr>
      <vt:lpstr>Growth Functions &amp; Asymptotic Analysis</vt:lpstr>
      <vt:lpstr>Comparitive analysis</vt:lpstr>
      <vt:lpstr>PowerPoint Presentation</vt:lpstr>
      <vt:lpstr>Applications in AI &amp; Expert System</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ABIYAN YOUSUF</dc:creator>
  <cp:lastModifiedBy>AKHIL CH</cp:lastModifiedBy>
  <cp:revision>6</cp:revision>
  <dcterms:created xsi:type="dcterms:W3CDTF">2026-05-01T18:21:59Z</dcterms:created>
  <dcterms:modified xsi:type="dcterms:W3CDTF">2026-07-19T10:29:45Z</dcterms:modified>
</cp:coreProperties>
</file>